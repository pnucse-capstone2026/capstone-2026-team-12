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sldIdLst>
    <p:sldId id="259" r:id="rId2"/>
  </p:sldIdLst>
  <p:sldSz cx="21383625" cy="30275213"/>
  <p:notesSz cx="6858000" cy="9144000"/>
  <p:embeddedFontLst>
    <p:embeddedFont>
      <p:font typeface="Arial Black" panose="020B0A04020102020204" pitchFamily="34" charset="0"/>
      <p:bold r:id="rId6"/>
    </p:embeddedFont>
    <p:embeddedFont>
      <p:font typeface="Calibri" panose="020F0502020204030204" pitchFamily="34" charset="0"/>
      <p:regular r:id="rId7"/>
      <p:bold r:id="rId8"/>
      <p:italic r:id="rId9"/>
      <p:boldItalic r:id="rId10"/>
    </p:embeddedFont>
    <p:embeddedFont>
      <p:font typeface="Calibri Light" panose="020F0302020204030204" pitchFamily="34" charset="0"/>
      <p:regular r:id="rId11"/>
      <p:italic r:id="rId12"/>
    </p:embeddedFont>
    <p:embeddedFont>
      <p:font typeface="Franklin Gothic Demi" panose="020B0703020102020204" pitchFamily="34" charset="0"/>
      <p:regular r:id="rId13"/>
      <p:italic r:id="rId14"/>
    </p:embeddedFont>
    <p:embeddedFont>
      <p:font typeface="맑은 고딕" panose="020B0503020000020004" pitchFamily="50" charset="-127"/>
      <p:regular r:id="rId15"/>
      <p:bold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651" userDrawn="1">
          <p15:clr>
            <a:srgbClr val="A4A3A4"/>
          </p15:clr>
        </p15:guide>
        <p15:guide id="2" pos="6735" userDrawn="1">
          <p15:clr>
            <a:srgbClr val="A4A3A4"/>
          </p15:clr>
        </p15:guide>
        <p15:guide id="3" orient="horz" pos="1452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8213"/>
    <a:srgbClr val="FFFFFF"/>
    <a:srgbClr val="ED7D31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26" d="100"/>
          <a:sy n="26" d="100"/>
        </p:scale>
        <p:origin x="3090" y="180"/>
      </p:cViewPr>
      <p:guideLst>
        <p:guide orient="horz" pos="8651"/>
        <p:guide pos="6735"/>
        <p:guide orient="horz" pos="1452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6" Type="http://schemas.openxmlformats.org/officeDocument/2006/relationships/font" Target="fonts/font1.fntdata"/><Relationship Id="rId7" Type="http://schemas.openxmlformats.org/officeDocument/2006/relationships/font" Target="fonts/font2.fntdata"/><Relationship Id="rId8" Type="http://schemas.openxmlformats.org/officeDocument/2006/relationships/font" Target="fonts/font3.fntdata"/><Relationship Id="rId9" Type="http://schemas.openxmlformats.org/officeDocument/2006/relationships/font" Target="fonts/font4.fntdata"/><Relationship Id="rId10" Type="http://schemas.openxmlformats.org/officeDocument/2006/relationships/font" Target="fonts/font5.fntdata"/><Relationship Id="rId11" Type="http://schemas.openxmlformats.org/officeDocument/2006/relationships/font" Target="fonts/font6.fntdata"/><Relationship Id="rId12" Type="http://schemas.openxmlformats.org/officeDocument/2006/relationships/font" Target="fonts/font7.fntdata"/><Relationship Id="rId13" Type="http://schemas.openxmlformats.org/officeDocument/2006/relationships/font" Target="fonts/font8.fntdata"/><Relationship Id="rId14" Type="http://schemas.openxmlformats.org/officeDocument/2006/relationships/font" Target="fonts/font9.fntdata"/><Relationship Id="rId15" Type="http://schemas.openxmlformats.org/officeDocument/2006/relationships/font" Target="fonts/font10.fntdata"/><Relationship Id="rId16" Type="http://schemas.openxmlformats.org/officeDocument/2006/relationships/font" Target="fonts/font11.fntdata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772" y="4954765"/>
            <a:ext cx="18176081" cy="10540259"/>
          </a:xfrm>
        </p:spPr>
        <p:txBody>
          <a:bodyPr anchor="b"/>
          <a:lstStyle>
            <a:lvl1pPr algn="ctr">
              <a:defRPr sz="1403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2953" y="15901497"/>
            <a:ext cx="16037719" cy="7309499"/>
          </a:xfrm>
        </p:spPr>
        <p:txBody>
          <a:bodyPr/>
          <a:lstStyle>
            <a:lvl1pPr marL="0" indent="0" algn="ctr">
              <a:buNone/>
              <a:defRPr sz="5612"/>
            </a:lvl1pPr>
            <a:lvl2pPr marL="1069162" indent="0" algn="ctr">
              <a:buNone/>
              <a:defRPr sz="4677"/>
            </a:lvl2pPr>
            <a:lvl3pPr marL="2138324" indent="0" algn="ctr">
              <a:buNone/>
              <a:defRPr sz="4209"/>
            </a:lvl3pPr>
            <a:lvl4pPr marL="3207487" indent="0" algn="ctr">
              <a:buNone/>
              <a:defRPr sz="3742"/>
            </a:lvl4pPr>
            <a:lvl5pPr marL="4276649" indent="0" algn="ctr">
              <a:buNone/>
              <a:defRPr sz="3742"/>
            </a:lvl5pPr>
            <a:lvl6pPr marL="5345811" indent="0" algn="ctr">
              <a:buNone/>
              <a:defRPr sz="3742"/>
            </a:lvl6pPr>
            <a:lvl7pPr marL="6414973" indent="0" algn="ctr">
              <a:buNone/>
              <a:defRPr sz="3742"/>
            </a:lvl7pPr>
            <a:lvl8pPr marL="7484135" indent="0" algn="ctr">
              <a:buNone/>
              <a:defRPr sz="3742"/>
            </a:lvl8pPr>
            <a:lvl9pPr marL="8553298" indent="0" algn="ctr">
              <a:buNone/>
              <a:defRPr sz="3742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68C2B-BE6A-4123-B1EB-3B148078ED94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5EE4-1B2F-4824-B0C8-6C1DBF8DD7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0216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68C2B-BE6A-4123-B1EB-3B148078ED94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5EE4-1B2F-4824-B0C8-6C1DBF8DD7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7763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988" y="7547788"/>
            <a:ext cx="18443377" cy="12593645"/>
          </a:xfrm>
        </p:spPr>
        <p:txBody>
          <a:bodyPr anchor="b"/>
          <a:lstStyle>
            <a:lvl1pPr>
              <a:defRPr sz="1403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8988" y="20260574"/>
            <a:ext cx="18443377" cy="6622701"/>
          </a:xfrm>
        </p:spPr>
        <p:txBody>
          <a:bodyPr/>
          <a:lstStyle>
            <a:lvl1pPr marL="0" indent="0">
              <a:buNone/>
              <a:defRPr sz="5612">
                <a:solidFill>
                  <a:schemeClr val="tx1"/>
                </a:solidFill>
              </a:defRPr>
            </a:lvl1pPr>
            <a:lvl2pPr marL="1069162" indent="0">
              <a:buNone/>
              <a:defRPr sz="4677">
                <a:solidFill>
                  <a:schemeClr val="tx1">
                    <a:tint val="75000"/>
                  </a:schemeClr>
                </a:solidFill>
              </a:defRPr>
            </a:lvl2pPr>
            <a:lvl3pPr marL="2138324" indent="0">
              <a:buNone/>
              <a:defRPr sz="4209">
                <a:solidFill>
                  <a:schemeClr val="tx1">
                    <a:tint val="75000"/>
                  </a:schemeClr>
                </a:solidFill>
              </a:defRPr>
            </a:lvl3pPr>
            <a:lvl4pPr marL="3207487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4pPr>
            <a:lvl5pPr marL="4276649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5pPr>
            <a:lvl6pPr marL="5345811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6pPr>
            <a:lvl7pPr marL="6414973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7pPr>
            <a:lvl8pPr marL="7484135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8pPr>
            <a:lvl9pPr marL="8553298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68C2B-BE6A-4123-B1EB-3B148078ED94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5EE4-1B2F-4824-B0C8-6C1DBF8DD7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3835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124" y="8059374"/>
            <a:ext cx="9088041" cy="1920934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25460" y="8059374"/>
            <a:ext cx="9088041" cy="1920934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68C2B-BE6A-4123-B1EB-3B148078ED94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5EE4-1B2F-4824-B0C8-6C1DBF8DD7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6915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1611882"/>
            <a:ext cx="18443377" cy="585180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2912" y="7421634"/>
            <a:ext cx="9046274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2912" y="11058863"/>
            <a:ext cx="9046274" cy="16265921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25461" y="7421634"/>
            <a:ext cx="9090826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25461" y="11058863"/>
            <a:ext cx="9090826" cy="16265921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68C2B-BE6A-4123-B1EB-3B148078ED94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5EE4-1B2F-4824-B0C8-6C1DBF8DD7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0110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68C2B-BE6A-4123-B1EB-3B148078ED94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5EE4-1B2F-4824-B0C8-6C1DBF8DD7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2116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68C2B-BE6A-4123-B1EB-3B148078ED94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5EE4-1B2F-4824-B0C8-6C1DBF8DD7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0523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826" y="4359077"/>
            <a:ext cx="10825460" cy="21515024"/>
          </a:xfrm>
        </p:spPr>
        <p:txBody>
          <a:bodyPr/>
          <a:lstStyle>
            <a:lvl1pPr>
              <a:defRPr sz="7483"/>
            </a:lvl1pPr>
            <a:lvl2pPr>
              <a:defRPr sz="6548"/>
            </a:lvl2pPr>
            <a:lvl3pPr>
              <a:defRPr sz="5612"/>
            </a:lvl3pPr>
            <a:lvl4pPr>
              <a:defRPr sz="4677"/>
            </a:lvl4pPr>
            <a:lvl5pPr>
              <a:defRPr sz="4677"/>
            </a:lvl5pPr>
            <a:lvl6pPr>
              <a:defRPr sz="4677"/>
            </a:lvl6pPr>
            <a:lvl7pPr>
              <a:defRPr sz="4677"/>
            </a:lvl7pPr>
            <a:lvl8pPr>
              <a:defRPr sz="4677"/>
            </a:lvl8pPr>
            <a:lvl9pPr>
              <a:defRPr sz="4677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68C2B-BE6A-4123-B1EB-3B148078ED94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5EE4-1B2F-4824-B0C8-6C1DBF8DD7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9796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90826" y="4359077"/>
            <a:ext cx="10825460" cy="21515024"/>
          </a:xfrm>
        </p:spPr>
        <p:txBody>
          <a:bodyPr anchor="t"/>
          <a:lstStyle>
            <a:lvl1pPr marL="0" indent="0">
              <a:buNone/>
              <a:defRPr sz="7483"/>
            </a:lvl1pPr>
            <a:lvl2pPr marL="1069162" indent="0">
              <a:buNone/>
              <a:defRPr sz="6548"/>
            </a:lvl2pPr>
            <a:lvl3pPr marL="2138324" indent="0">
              <a:buNone/>
              <a:defRPr sz="5612"/>
            </a:lvl3pPr>
            <a:lvl4pPr marL="3207487" indent="0">
              <a:buNone/>
              <a:defRPr sz="4677"/>
            </a:lvl4pPr>
            <a:lvl5pPr marL="4276649" indent="0">
              <a:buNone/>
              <a:defRPr sz="4677"/>
            </a:lvl5pPr>
            <a:lvl6pPr marL="5345811" indent="0">
              <a:buNone/>
              <a:defRPr sz="4677"/>
            </a:lvl6pPr>
            <a:lvl7pPr marL="6414973" indent="0">
              <a:buNone/>
              <a:defRPr sz="4677"/>
            </a:lvl7pPr>
            <a:lvl8pPr marL="7484135" indent="0">
              <a:buNone/>
              <a:defRPr sz="4677"/>
            </a:lvl8pPr>
            <a:lvl9pPr marL="8553298" indent="0">
              <a:buNone/>
              <a:defRPr sz="467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68C2B-BE6A-4123-B1EB-3B148078ED94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5EE4-1B2F-4824-B0C8-6C1DBF8DD7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7048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68C2B-BE6A-4123-B1EB-3B148078ED94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5EE4-1B2F-4824-B0C8-6C1DBF8DD7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6346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02658" y="1611875"/>
            <a:ext cx="4610844" cy="256568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125" y="1611875"/>
            <a:ext cx="13565237" cy="256568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68C2B-BE6A-4123-B1EB-3B148078ED94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5EE4-1B2F-4824-B0C8-6C1DBF8DD7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352612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124" y="1611882"/>
            <a:ext cx="18443377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124" y="8059374"/>
            <a:ext cx="18443377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368C2B-BE6A-4123-B1EB-3B148078ED94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FA5EE4-1B2F-4824-B0C8-6C1DBF8DD7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8527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138324" rtl="0" eaLnBrk="1" latinLnBrk="1" hangingPunct="1">
        <a:lnSpc>
          <a:spcPct val="90000"/>
        </a:lnSpc>
        <a:spcBef>
          <a:spcPct val="0"/>
        </a:spcBef>
        <a:buNone/>
        <a:defRPr sz="102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4581" indent="-534581" algn="l" defTabSz="2138324" rtl="0" eaLnBrk="1" latinLnBrk="1" hangingPunct="1">
        <a:lnSpc>
          <a:spcPct val="90000"/>
        </a:lnSpc>
        <a:spcBef>
          <a:spcPts val="2339"/>
        </a:spcBef>
        <a:buFont typeface="Arial" panose="020B0604020202020204" pitchFamily="34" charset="0"/>
        <a:buChar char="•"/>
        <a:defRPr sz="6548" kern="1200">
          <a:solidFill>
            <a:schemeClr val="tx1"/>
          </a:solidFill>
          <a:latin typeface="+mn-lt"/>
          <a:ea typeface="+mn-ea"/>
          <a:cs typeface="+mn-cs"/>
        </a:defRPr>
      </a:lvl1pPr>
      <a:lvl2pPr marL="1603743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5612" kern="1200">
          <a:solidFill>
            <a:schemeClr val="tx1"/>
          </a:solidFill>
          <a:latin typeface="+mn-lt"/>
          <a:ea typeface="+mn-ea"/>
          <a:cs typeface="+mn-cs"/>
        </a:defRPr>
      </a:lvl2pPr>
      <a:lvl3pPr marL="2672906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677" kern="1200">
          <a:solidFill>
            <a:schemeClr val="tx1"/>
          </a:solidFill>
          <a:latin typeface="+mn-lt"/>
          <a:ea typeface="+mn-ea"/>
          <a:cs typeface="+mn-cs"/>
        </a:defRPr>
      </a:lvl3pPr>
      <a:lvl4pPr marL="3742068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811230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880392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949554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8018717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9087879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2pPr>
      <a:lvl3pPr marL="2138324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3pPr>
      <a:lvl4pPr marL="3207487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276649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345811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414973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7484135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8553298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/>
          <p:cNvGrpSpPr/>
          <p:nvPr/>
        </p:nvGrpSpPr>
        <p:grpSpPr>
          <a:xfrm>
            <a:off x="-1" y="0"/>
            <a:ext cx="21383625" cy="6266353"/>
            <a:chOff x="-1" y="0"/>
            <a:chExt cx="21383625" cy="6266353"/>
          </a:xfrm>
        </p:grpSpPr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" y="0"/>
              <a:ext cx="21383625" cy="6266353"/>
            </a:xfrm>
            <a:prstGeom prst="rect">
              <a:avLst/>
            </a:prstGeom>
          </p:spPr>
        </p:pic>
        <p:sp>
          <p:nvSpPr>
            <p:cNvPr id="22" name="TextBox 21"/>
            <p:cNvSpPr txBox="1"/>
            <p:nvPr/>
          </p:nvSpPr>
          <p:spPr>
            <a:xfrm>
              <a:off x="7099300" y="4254500"/>
              <a:ext cx="25571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b="1" spc="-150" dirty="0" err="1"/>
                <a:t>하프피프티</a:t>
              </a:r>
              <a:endParaRPr lang="ko-KR" altLang="en-US" sz="2000" b="1" spc="-150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8275300" y="4254500"/>
              <a:ext cx="9541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b="1" dirty="0" err="1"/>
                <a:t>최동희</a:t>
              </a:r>
              <a:endParaRPr lang="ko-KR" altLang="en-US" sz="2000" b="1" dirty="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0909300" y="4254500"/>
              <a:ext cx="273985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b="1" dirty="0" err="1"/>
                <a:t>김민찬, 전동훈, 최민제</a:t>
              </a:r>
              <a:endParaRPr lang="ko-KR" altLang="en-US" sz="2000" b="1" dirty="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959351" y="1471570"/>
              <a:ext cx="14452600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en-US" altLang="ko-KR" sz="6000" b="1" spc="-15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금융 취약계층을 위한 사용자 맞춤형</a:t>
              </a:r>
              <a:endParaRPr lang="en-US" altLang="ko-KR" sz="6000" b="1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endParaRPr>
            </a:p>
            <a:p>
              <a:pPr/>
              <a:r>
                <a:rPr sz="6000" b="1">
                  <a:solidFill>
                    <a:srgbClr val="FFFFFF"/>
                  </a:solidFill>
                  <a:latin typeface="+mj-ea"/>
                  <a:ea typeface="+mj-ea"/>
                </a:rPr>
                <a:t>계약 문서 단순화 및 위험 안내 에이전트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786715" y="1022377"/>
              <a:ext cx="2654060" cy="26468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6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Franklin Gothic Demi" panose="020B0703020102020204" pitchFamily="34" charset="0"/>
                  <a:ea typeface="+mj-ea"/>
                </a:rPr>
                <a:t>00</a:t>
              </a:r>
              <a:endParaRPr lang="ko-KR" altLang="en-US" sz="16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Demi" panose="020B0703020102020204" pitchFamily="34" charset="0"/>
                <a:ea typeface="+mj-ea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8771544" y="5400606"/>
              <a:ext cx="384048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3200" b="1" dirty="0">
                  <a:solidFill>
                    <a:schemeClr val="bg1"/>
                  </a:solidFill>
                </a:rPr>
                <a:t>과제 개요</a:t>
              </a:r>
              <a:endParaRPr lang="ko-KR" altLang="en-US" sz="32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1" name="그룹 20"/>
          <p:cNvGrpSpPr/>
          <p:nvPr/>
        </p:nvGrpSpPr>
        <p:grpSpPr>
          <a:xfrm>
            <a:off x="0" y="12070080"/>
            <a:ext cx="21383625" cy="1048456"/>
            <a:chOff x="0" y="13203678"/>
            <a:chExt cx="21383625" cy="1048456"/>
          </a:xfrm>
        </p:grpSpPr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3203678"/>
              <a:ext cx="21383625" cy="1048456"/>
            </a:xfrm>
            <a:prstGeom prst="rect">
              <a:avLst/>
            </a:prstGeom>
          </p:spPr>
        </p:pic>
        <p:sp>
          <p:nvSpPr>
            <p:cNvPr id="28" name="TextBox 27"/>
            <p:cNvSpPr txBox="1"/>
            <p:nvPr/>
          </p:nvSpPr>
          <p:spPr>
            <a:xfrm>
              <a:off x="8809644" y="13439706"/>
              <a:ext cx="384048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3200" b="1" dirty="0">
                  <a:solidFill>
                    <a:schemeClr val="bg1"/>
                  </a:solidFill>
                </a:rPr>
                <a:t>기술 설명</a:t>
              </a:r>
              <a:endParaRPr lang="ko-KR" altLang="en-US" sz="32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0" name="그룹 29"/>
          <p:cNvGrpSpPr/>
          <p:nvPr/>
        </p:nvGrpSpPr>
        <p:grpSpPr>
          <a:xfrm>
            <a:off x="0" y="24460200"/>
            <a:ext cx="21383625" cy="1048456"/>
            <a:chOff x="0" y="22538178"/>
            <a:chExt cx="21383625" cy="1048456"/>
          </a:xfrm>
        </p:grpSpPr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22538178"/>
              <a:ext cx="21383625" cy="1048456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>
              <a:off x="8809644" y="22774206"/>
              <a:ext cx="384048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3200" b="1" dirty="0">
                  <a:solidFill>
                    <a:schemeClr val="bg1"/>
                  </a:solidFill>
                </a:rPr>
                <a:t>연구 결과 및 기대효과</a:t>
              </a:r>
              <a:endParaRPr lang="ko-KR" altLang="en-US" sz="32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0" y="28367267"/>
            <a:ext cx="21383625" cy="1907946"/>
            <a:chOff x="0" y="28367267"/>
            <a:chExt cx="21383625" cy="1907946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28367267"/>
              <a:ext cx="21383625" cy="1907946"/>
            </a:xfrm>
            <a:prstGeom prst="rect">
              <a:avLst/>
            </a:prstGeom>
          </p:spPr>
        </p:pic>
        <p:sp>
          <p:nvSpPr>
            <p:cNvPr id="2" name="TextBox 1"/>
            <p:cNvSpPr txBox="1"/>
            <p:nvPr/>
          </p:nvSpPr>
          <p:spPr>
            <a:xfrm>
              <a:off x="580574" y="28767317"/>
              <a:ext cx="1140056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solidFill>
                    <a:schemeClr val="bg1">
                      <a:lumMod val="50000"/>
                    </a:schemeClr>
                  </a:solidFill>
                  <a:latin typeface="Arial Black" panose="020B0A04020102020204" pitchFamily="34" charset="0"/>
                </a:rPr>
                <a:t>2026</a:t>
              </a:r>
              <a:endParaRPr lang="ko-KR" altLang="en-US" sz="2800" dirty="0">
                <a:solidFill>
                  <a:schemeClr val="bg1">
                    <a:lumMod val="50000"/>
                  </a:schemeClr>
                </a:solidFill>
                <a:latin typeface="Arial Black" panose="020B0A04020102020204" pitchFamily="34" charset="0"/>
              </a:endParaRP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14154150" y="28594050"/>
            <a:ext cx="2857500" cy="1085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14287500" y="28594050"/>
            <a:ext cx="2724150" cy="1085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Rounded Rectangle 30"/>
          <p:cNvSpPr/>
          <p:nvPr/>
        </p:nvSpPr>
        <p:spPr>
          <a:xfrm>
            <a:off x="868680" y="6309360"/>
            <a:ext cx="9052560" cy="5394960"/>
          </a:xfrm>
          <a:prstGeom prst="roundRect">
            <a:avLst>
              <a:gd name="adj" fmla="val 3000"/>
            </a:avLst>
          </a:prstGeom>
          <a:solidFill>
            <a:srgbClr val="FFF4E8"/>
          </a:solidFill>
          <a:ln w="15875">
            <a:solidFill>
              <a:srgbClr val="F08A2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188719" y="6537960"/>
            <a:ext cx="4206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1">
                <a:solidFill>
                  <a:srgbClr val="C96A0F"/>
                </a:solidFill>
                <a:latin typeface="Malgun Gothic"/>
                <a:ea typeface="Malgun Gothic"/>
              </a:rPr>
              <a:t>01  범용 LLM에 계약서를 그냥 맡기면?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19" y="6876288"/>
            <a:ext cx="42062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 b="0">
                <a:solidFill>
                  <a:srgbClr val="5F5F5F"/>
                </a:solidFill>
                <a:latin typeface="Malgun Gothic"/>
                <a:ea typeface="Malgun Gothic"/>
              </a:rPr>
              <a:t>정부·법원 직접 판정 조항 27건, 단일 호출 정확도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19" y="7315200"/>
            <a:ext cx="42062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5F5F5F"/>
                </a:solidFill>
                <a:latin typeface="Malgun Gothic"/>
                <a:ea typeface="Malgun Gothic"/>
              </a:rPr>
              <a:t>Claude Sonnet 4.6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88719" y="7607808"/>
            <a:ext cx="1448409" cy="365760"/>
          </a:xfrm>
          <a:prstGeom prst="roundRect">
            <a:avLst>
              <a:gd name="adj" fmla="val 50000"/>
            </a:avLst>
          </a:prstGeom>
          <a:solidFill>
            <a:srgbClr val="5F5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2710281" y="7589520"/>
            <a:ext cx="914400" cy="40233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1">
                <a:solidFill>
                  <a:srgbClr val="2B2B2B"/>
                </a:solidFill>
                <a:latin typeface="Malgun Gothic"/>
                <a:ea typeface="Malgun Gothic"/>
              </a:rPr>
              <a:t>48%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8719" y="8183879"/>
            <a:ext cx="42062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5F5F5F"/>
                </a:solidFill>
                <a:latin typeface="Malgun Gothic"/>
                <a:ea typeface="Malgun Gothic"/>
              </a:rPr>
              <a:t>Claude Haiku 4.5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88719" y="8476488"/>
            <a:ext cx="1569110" cy="365760"/>
          </a:xfrm>
          <a:prstGeom prst="roundRect">
            <a:avLst>
              <a:gd name="adj" fmla="val 50000"/>
            </a:avLst>
          </a:prstGeom>
          <a:solidFill>
            <a:srgbClr val="5F5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2830982" y="8458200"/>
            <a:ext cx="914400" cy="40233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1">
                <a:solidFill>
                  <a:srgbClr val="2B2B2B"/>
                </a:solidFill>
                <a:latin typeface="Malgun Gothic"/>
                <a:ea typeface="Malgun Gothic"/>
              </a:rPr>
              <a:t>52%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8719" y="9052560"/>
            <a:ext cx="42062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5F5F5F"/>
                </a:solidFill>
                <a:latin typeface="Malgun Gothic"/>
                <a:ea typeface="Malgun Gothic"/>
              </a:rPr>
              <a:t>Claude Fable 5 (상위)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188719" y="9345168"/>
            <a:ext cx="1780336" cy="365760"/>
          </a:xfrm>
          <a:prstGeom prst="roundRect">
            <a:avLst>
              <a:gd name="adj" fmla="val 50000"/>
            </a:avLst>
          </a:prstGeom>
          <a:solidFill>
            <a:srgbClr val="5F5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3042208" y="9326880"/>
            <a:ext cx="914400" cy="40233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1">
                <a:solidFill>
                  <a:srgbClr val="2B2B2B"/>
                </a:solidFill>
                <a:latin typeface="Malgun Gothic"/>
                <a:ea typeface="Malgun Gothic"/>
              </a:rPr>
              <a:t>59%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88719" y="9921240"/>
            <a:ext cx="42062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1">
                <a:solidFill>
                  <a:srgbClr val="2B2B2B"/>
                </a:solidFill>
                <a:latin typeface="Malgun Gothic"/>
                <a:ea typeface="Malgun Gothic"/>
              </a:rPr>
              <a:t>본 과제 파이프라인 (Haiku)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88719" y="10213848"/>
            <a:ext cx="2112263" cy="365760"/>
          </a:xfrm>
          <a:prstGeom prst="roundRect">
            <a:avLst>
              <a:gd name="adj" fmla="val 50000"/>
            </a:avLst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3374135" y="10195560"/>
            <a:ext cx="914400" cy="40233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1">
                <a:solidFill>
                  <a:srgbClr val="F08A24"/>
                </a:solidFill>
                <a:latin typeface="Malgun Gothic"/>
                <a:ea typeface="Malgun Gothic"/>
              </a:rPr>
              <a:t>70%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88719" y="10881360"/>
            <a:ext cx="4206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 b="0">
                <a:solidFill>
                  <a:srgbClr val="5F5F5F"/>
                </a:solidFill>
                <a:latin typeface="Malgun Gothic"/>
                <a:ea typeface="Malgun Gothic"/>
              </a:rPr>
              <a:t>같은 모델(Haiku)이라도 역할을 나눠 절차적으로 판정하면 0.52 → 0.70. 상위 모델의 단일 호출(0.59)도 이를 넘지 못함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0" y="6537960"/>
            <a:ext cx="39319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1">
                <a:solidFill>
                  <a:srgbClr val="C96A0F"/>
                </a:solidFill>
                <a:latin typeface="Malgun Gothic"/>
                <a:ea typeface="Malgun Gothic"/>
              </a:rPr>
              <a:t>02  계약 위험은 언제 발견되는가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0" y="6876288"/>
            <a:ext cx="3931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 b="0">
                <a:solidFill>
                  <a:srgbClr val="5F5F5F"/>
                </a:solidFill>
                <a:latin typeface="Malgun Gothic"/>
                <a:ea typeface="Malgun Gothic"/>
              </a:rPr>
              <a:t>본 과제 골든셋의 정답 근거 = 분쟁 이후의 판정문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669280" y="7315200"/>
            <a:ext cx="393192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C96A0F"/>
                </a:solidFill>
                <a:latin typeface="Malgun Gothic"/>
                <a:ea typeface="Malgun Gothic"/>
              </a:rPr>
              <a:t>주택금융연구 · 2025</a:t>
            </a:r>
          </a:p>
          <a:p>
            <a:pPr algn="l">
              <a:lnSpc>
                <a:spcPct val="110000"/>
              </a:lnSpc>
            </a:pPr>
            <a:r>
              <a:rPr sz="1150" b="1">
                <a:solidFill>
                  <a:srgbClr val="2B2B2B"/>
                </a:solidFill>
                <a:latin typeface="Malgun Gothic"/>
                <a:ea typeface="Malgun Gothic"/>
              </a:rPr>
              <a:t>전세보증 사고 45.3만 건 분석 — 계약 특성이 사고를 예측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669280" y="8321040"/>
            <a:ext cx="393192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C96A0F"/>
                </a:solidFill>
                <a:latin typeface="Malgun Gothic"/>
                <a:ea typeface="Malgun Gothic"/>
              </a:rPr>
              <a:t>금융분쟁조정위 · 2017-17 / 2018-8</a:t>
            </a:r>
          </a:p>
          <a:p>
            <a:pPr algn="l">
              <a:lnSpc>
                <a:spcPct val="110000"/>
              </a:lnSpc>
            </a:pPr>
            <a:r>
              <a:rPr sz="1150" b="1">
                <a:solidFill>
                  <a:srgbClr val="2B2B2B"/>
                </a:solidFill>
                <a:latin typeface="Malgun Gothic"/>
                <a:ea typeface="Malgun Gothic"/>
              </a:rPr>
              <a:t>즉시연금 약관 — 불명확한 이자·사업비 조건, 분쟁 후 위험 확정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669280" y="9326880"/>
            <a:ext cx="393192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C96A0F"/>
                </a:solidFill>
                <a:latin typeface="Malgun Gothic"/>
                <a:ea typeface="Malgun Gothic"/>
              </a:rPr>
              <a:t>한국공정거래조정원 · 2025-03</a:t>
            </a:r>
          </a:p>
          <a:p>
            <a:pPr algn="l">
              <a:lnSpc>
                <a:spcPct val="110000"/>
              </a:lnSpc>
            </a:pPr>
            <a:r>
              <a:rPr sz="1150" b="1">
                <a:solidFill>
                  <a:srgbClr val="2B2B2B"/>
                </a:solidFill>
                <a:latin typeface="Malgun Gothic"/>
                <a:ea typeface="Malgun Gothic"/>
              </a:rPr>
              <a:t>광고대행 위탁계약 — 과도한 위약금 조항, 분쟁조정으로 판정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669280" y="10332720"/>
            <a:ext cx="393192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C96A0F"/>
                </a:solidFill>
                <a:latin typeface="Malgun Gothic"/>
                <a:ea typeface="Malgun Gothic"/>
              </a:rPr>
              <a:t>약관규제법 위반 유형 10종</a:t>
            </a:r>
          </a:p>
          <a:p>
            <a:pPr algn="l">
              <a:lnSpc>
                <a:spcPct val="110000"/>
              </a:lnSpc>
            </a:pPr>
            <a:r>
              <a:rPr sz="1150" b="1">
                <a:solidFill>
                  <a:srgbClr val="2B2B2B"/>
                </a:solidFill>
                <a:latin typeface="Malgun Gothic"/>
                <a:ea typeface="Malgun Gothic"/>
              </a:rPr>
              <a:t>책임 면제 · 과도한 위약금 · 일방적 해지 · 불명확한 수수료 ···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69280" y="11338560"/>
            <a:ext cx="39319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1">
                <a:solidFill>
                  <a:srgbClr val="2B2B2B"/>
                </a:solidFill>
                <a:latin typeface="Malgun Gothic"/>
                <a:ea typeface="Malgun Gothic"/>
              </a:rPr>
              <a:t>→ 위험 발견 시점을 서명 이후의 분쟁에서 서명 이전의 질문으로</a:t>
            </a:r>
          </a:p>
        </p:txBody>
      </p:sp>
      <p:sp>
        <p:nvSpPr>
          <p:cNvPr id="54" name="Oval 53"/>
          <p:cNvSpPr/>
          <p:nvPr/>
        </p:nvSpPr>
        <p:spPr>
          <a:xfrm>
            <a:off x="10469880" y="6483096"/>
            <a:ext cx="155448" cy="155448"/>
          </a:xfrm>
          <a:prstGeom prst="ellipse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10744200" y="6336792"/>
            <a:ext cx="109728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900" b="1">
                <a:solidFill>
                  <a:srgbClr val="2B2B2B"/>
                </a:solidFill>
                <a:latin typeface="Malgun Gothic"/>
                <a:ea typeface="Malgun Gothic"/>
              </a:rPr>
              <a:t>과제 선정 배경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744200" y="6858000"/>
            <a:ext cx="978408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201168" indent="-201168">
              <a:lnSpc>
                <a:spcPct val="115000"/>
              </a:lnSpc>
              <a:spcAft>
                <a:spcPts val="400"/>
              </a:spcAft>
              <a:buFont typeface="Arial"/>
              <a:buChar char="•"/>
            </a:pPr>
            <a:r>
              <a:rPr sz="1300" b="0">
                <a:solidFill>
                  <a:srgbClr val="2B2B2B"/>
                </a:solidFill>
                <a:latin typeface="Malgun Gothic"/>
                <a:ea typeface="Malgun Gothic"/>
              </a:rPr>
              <a:t>전세사기·금융상품 불완전판매 등 계약 문서를 이해하지 못해 발생하는 피해가 매년 증가</a:t>
            </a:r>
          </a:p>
          <a:p>
            <a:pPr algn="l" marL="201168" indent="-201168">
              <a:lnSpc>
                <a:spcPct val="115000"/>
              </a:lnSpc>
              <a:spcAft>
                <a:spcPts val="400"/>
              </a:spcAft>
              <a:buFont typeface="Arial"/>
              <a:buChar char="•"/>
            </a:pPr>
            <a:r>
              <a:rPr sz="1300" b="0">
                <a:solidFill>
                  <a:srgbClr val="2B2B2B"/>
                </a:solidFill>
                <a:latin typeface="Malgun Gothic"/>
                <a:ea typeface="Malgun Gothic"/>
              </a:rPr>
              <a:t>대출·보험·임대차 계약은 조항이 길고 전문용어가 많아, 고령층·외국인·사회초년생 등 금융 취약계층은 불리한 조항을 스스로 인지하기 어려움</a:t>
            </a:r>
          </a:p>
          <a:p>
            <a:pPr algn="l" marL="201168" indent="-201168">
              <a:lnSpc>
                <a:spcPct val="115000"/>
              </a:lnSpc>
              <a:spcAft>
                <a:spcPts val="400"/>
              </a:spcAft>
              <a:buFont typeface="Arial"/>
              <a:buChar char="•"/>
            </a:pPr>
            <a:r>
              <a:rPr sz="1300" b="0">
                <a:solidFill>
                  <a:srgbClr val="2B2B2B"/>
                </a:solidFill>
                <a:latin typeface="Malgun Gothic"/>
                <a:ea typeface="Malgun Gothic"/>
              </a:rPr>
              <a:t>범용 LLM은 문서 이해력이 높아졌지만 계약 해석에 그대로 쓰면 ① 호출마다 다른 판단 ② 사용자 적응 부재 ③ 행동 지침 부재 ④ 없는 조항·법령 인용(환각)의 한계가 남음</a:t>
            </a:r>
          </a:p>
          <a:p>
            <a:pPr algn="l" marL="201168" indent="-201168">
              <a:lnSpc>
                <a:spcPct val="115000"/>
              </a:lnSpc>
              <a:spcAft>
                <a:spcPts val="400"/>
              </a:spcAft>
              <a:buFont typeface="Arial"/>
              <a:buChar char="•"/>
            </a:pPr>
            <a:r>
              <a:rPr sz="1300" b="0">
                <a:solidFill>
                  <a:srgbClr val="2B2B2B"/>
                </a:solidFill>
                <a:latin typeface="Malgun Gothic"/>
                <a:ea typeface="Malgun Gothic"/>
              </a:rPr>
              <a:t>위 한계는 더 큰 모델로 해소되지 않음 — LLM 출력을 절차적으로 분해하고 단계별 품질을 측정·검증하는 체계가 필요</a:t>
            </a:r>
          </a:p>
        </p:txBody>
      </p:sp>
      <p:sp>
        <p:nvSpPr>
          <p:cNvPr id="57" name="Oval 56"/>
          <p:cNvSpPr/>
          <p:nvPr/>
        </p:nvSpPr>
        <p:spPr>
          <a:xfrm>
            <a:off x="10469880" y="9500616"/>
            <a:ext cx="155448" cy="155448"/>
          </a:xfrm>
          <a:prstGeom prst="ellipse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10744200" y="9354312"/>
            <a:ext cx="109728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900" b="1">
                <a:solidFill>
                  <a:srgbClr val="2B2B2B"/>
                </a:solidFill>
                <a:latin typeface="Malgun Gothic"/>
                <a:ea typeface="Malgun Gothic"/>
              </a:rPr>
              <a:t>과제 목표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744200" y="9875520"/>
            <a:ext cx="978408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201168" indent="-201168">
              <a:lnSpc>
                <a:spcPct val="115000"/>
              </a:lnSpc>
              <a:spcAft>
                <a:spcPts val="400"/>
              </a:spcAft>
              <a:buFont typeface="Arial"/>
              <a:buChar char="•"/>
            </a:pPr>
            <a:r>
              <a:rPr sz="1300" b="0">
                <a:solidFill>
                  <a:srgbClr val="2B2B2B"/>
                </a:solidFill>
                <a:latin typeface="Malgun Gothic"/>
                <a:ea typeface="Malgun Gothic"/>
              </a:rPr>
              <a:t>계약서 각 조항마다 </a:t>
            </a:r>
            <a:r>
              <a:rPr sz="1300" b="1">
                <a:solidFill>
                  <a:srgbClr val="2B2B2B"/>
                </a:solidFill>
                <a:latin typeface="Malgun Gothic"/>
                <a:ea typeface="Malgun Gothic"/>
              </a:rPr>
              <a:t>쉬운 설명 · 위험 여부/유형 · 위험 근거 · 확인 질문</a:t>
            </a:r>
            <a:r>
              <a:rPr sz="1300" b="0">
                <a:solidFill>
                  <a:srgbClr val="2B2B2B"/>
                </a:solidFill>
                <a:latin typeface="Malgun Gothic"/>
                <a:ea typeface="Malgun Gothic"/>
              </a:rPr>
              <a:t>의 4종 출력을 제공하는 설명 중심 계약 해석 에이전트 개발</a:t>
            </a:r>
          </a:p>
          <a:p>
            <a:pPr algn="l" marL="201168" indent="-201168">
              <a:lnSpc>
                <a:spcPct val="115000"/>
              </a:lnSpc>
              <a:spcAft>
                <a:spcPts val="400"/>
              </a:spcAft>
              <a:buFont typeface="Arial"/>
              <a:buChar char="•"/>
            </a:pPr>
            <a:r>
              <a:rPr sz="1300" b="0">
                <a:solidFill>
                  <a:srgbClr val="2B2B2B"/>
                </a:solidFill>
                <a:latin typeface="Malgun Gothic"/>
                <a:ea typeface="Malgun Gothic"/>
              </a:rPr>
              <a:t>일반 성인 · 고령층 · 외국인(영어·중국어·베트남어) 페르소나에 맞춰 설명 난이도를 조정</a:t>
            </a:r>
          </a:p>
          <a:p>
            <a:pPr algn="l" marL="201168" indent="-201168">
              <a:lnSpc>
                <a:spcPct val="115000"/>
              </a:lnSpc>
              <a:spcAft>
                <a:spcPts val="400"/>
              </a:spcAft>
              <a:buFont typeface="Arial"/>
              <a:buChar char="•"/>
            </a:pPr>
            <a:r>
              <a:rPr sz="1300" b="0">
                <a:solidFill>
                  <a:srgbClr val="2B2B2B"/>
                </a:solidFill>
                <a:latin typeface="Malgun Gothic"/>
                <a:ea typeface="Malgun Gothic"/>
              </a:rPr>
              <a:t>역할 분리형 5단계 파이프라인(Parser → Domain → Analysis → Persona → Judge)으로 판정의 일관성과 근거 충실성 확보</a:t>
            </a:r>
          </a:p>
          <a:p>
            <a:pPr algn="l" marL="201168" indent="-201168">
              <a:lnSpc>
                <a:spcPct val="115000"/>
              </a:lnSpc>
              <a:spcAft>
                <a:spcPts val="400"/>
              </a:spcAft>
              <a:buFont typeface="Arial"/>
              <a:buChar char="•"/>
            </a:pPr>
            <a:r>
              <a:rPr sz="1300" b="0">
                <a:solidFill>
                  <a:srgbClr val="2B2B2B"/>
                </a:solidFill>
                <a:latin typeface="Malgun Gothic"/>
                <a:ea typeface="Malgun Gothic"/>
              </a:rPr>
              <a:t>LLM-as-a-Judge 정량 평가와 정부·법원 판정 기반 골든데이터셋, 일반 대중 사람 평가로 "믿을 수 있는 답"인지 다중 검증</a:t>
            </a:r>
          </a:p>
        </p:txBody>
      </p:sp>
      <p:sp>
        <p:nvSpPr>
          <p:cNvPr id="60" name="Oval 59"/>
          <p:cNvSpPr/>
          <p:nvPr/>
        </p:nvSpPr>
        <p:spPr>
          <a:xfrm>
            <a:off x="868680" y="13112496"/>
            <a:ext cx="155448" cy="155448"/>
          </a:xfrm>
          <a:prstGeom prst="ellipse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1143000" y="12966192"/>
            <a:ext cx="109728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900" b="1">
                <a:solidFill>
                  <a:srgbClr val="2B2B2B"/>
                </a:solidFill>
                <a:latin typeface="Malgun Gothic"/>
                <a:ea typeface="Malgun Gothic"/>
              </a:rPr>
              <a:t>시스템 아키텍처 및 5단계 파이프라인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68680" y="13551407"/>
            <a:ext cx="6278880" cy="4572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10000"/>
              </a:lnSpc>
            </a:pPr>
            <a:r>
              <a:rPr sz="1250" b="1">
                <a:solidFill>
                  <a:srgbClr val="2B2B2B"/>
                </a:solidFill>
                <a:latin typeface="Malgun Gothic"/>
                <a:ea typeface="Malgun Gothic"/>
              </a:rPr>
              <a:t>프론트엔드</a:t>
            </a:r>
            <a:r>
              <a:rPr sz="1050" b="0">
                <a:solidFill>
                  <a:srgbClr val="5F5F5F"/>
                </a:solidFill>
                <a:latin typeface="Malgun Gothic"/>
                <a:ea typeface="Malgun Gothic"/>
              </a:rPr>
              <a:t>   React · TypeScript · PDF/사진(OCR) 입력 · 16개 언어 UI · TTS · 점자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7220712" y="13780007"/>
            <a:ext cx="265176" cy="0"/>
          </a:xfrm>
          <a:prstGeom prst="line">
            <a:avLst/>
          </a:prstGeom>
          <a:ln w="15875">
            <a:solidFill>
              <a:srgbClr val="5F5F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ounded Rectangle 63"/>
          <p:cNvSpPr/>
          <p:nvPr/>
        </p:nvSpPr>
        <p:spPr>
          <a:xfrm>
            <a:off x="7559040" y="13551407"/>
            <a:ext cx="6278880" cy="4572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10000"/>
              </a:lnSpc>
            </a:pPr>
            <a:r>
              <a:rPr sz="1250" b="1">
                <a:solidFill>
                  <a:srgbClr val="2B2B2B"/>
                </a:solidFill>
                <a:latin typeface="Malgun Gothic"/>
                <a:ea typeface="Malgun Gothic"/>
              </a:rPr>
              <a:t>백엔드</a:t>
            </a:r>
            <a:r>
              <a:rPr sz="1050" b="0">
                <a:solidFill>
                  <a:srgbClr val="5F5F5F"/>
                </a:solidFill>
                <a:latin typeface="Malgun Gothic"/>
                <a:ea typeface="Malgun Gothic"/>
              </a:rPr>
              <a:t>   Java Spring Boot · JWT · 프록시 · PostgreSQL · 계약 본문 무저장 · 개인정보 마스킹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13911072" y="13780007"/>
            <a:ext cx="265176" cy="0"/>
          </a:xfrm>
          <a:prstGeom prst="line">
            <a:avLst/>
          </a:prstGeom>
          <a:ln w="15875">
            <a:solidFill>
              <a:srgbClr val="5F5F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14249400" y="13551407"/>
            <a:ext cx="6278880" cy="4572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10000"/>
              </a:lnSpc>
            </a:pPr>
            <a:r>
              <a:rPr sz="1250" b="1">
                <a:solidFill>
                  <a:srgbClr val="2B2B2B"/>
                </a:solidFill>
                <a:latin typeface="Malgun Gothic"/>
                <a:ea typeface="Malgun Gothic"/>
              </a:rPr>
              <a:t>AI 에이전트</a:t>
            </a:r>
            <a:r>
              <a:rPr sz="1050" b="0">
                <a:solidFill>
                  <a:srgbClr val="5F5F5F"/>
                </a:solidFill>
                <a:latin typeface="Malgun Gothic"/>
                <a:ea typeface="Malgun Gothic"/>
              </a:rPr>
              <a:t>   Python · FastAPI · LangGraph 상태 그래프 · 생성 Haiku / 채점 Sonnet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68680" y="14374367"/>
            <a:ext cx="3697833" cy="548640"/>
          </a:xfrm>
          <a:prstGeom prst="roundRect">
            <a:avLst>
              <a:gd name="adj" fmla="val 20000"/>
            </a:avLst>
          </a:prstGeom>
          <a:solidFill>
            <a:srgbClr val="2F3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</a:rPr>
              <a:t>➀  Parser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68680" y="14813280"/>
            <a:ext cx="3697833" cy="11612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3C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941832" y="14941296"/>
            <a:ext cx="3551529" cy="996695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2F3C5E"/>
                </a:solidFill>
                <a:latin typeface="Malgun Gothic"/>
                <a:ea typeface="Malgun Gothic"/>
              </a:rPr>
              <a:t>규칙 기반 조항 분리 (Module)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5F5F5F"/>
                </a:solidFill>
                <a:latin typeface="Malgun Gothic"/>
                <a:ea typeface="Malgun Gothic"/>
              </a:rPr>
              <a:t>원문 텍스트 → 조항 리스트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4593945" y="14648688"/>
            <a:ext cx="237744" cy="0"/>
          </a:xfrm>
          <a:prstGeom prst="line">
            <a:avLst/>
          </a:prstGeom>
          <a:ln w="28575">
            <a:solidFill>
              <a:srgbClr val="C96A0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70"/>
          <p:cNvSpPr/>
          <p:nvPr/>
        </p:nvSpPr>
        <p:spPr>
          <a:xfrm>
            <a:off x="4859121" y="14374367"/>
            <a:ext cx="3697833" cy="548640"/>
          </a:xfrm>
          <a:prstGeom prst="roundRect">
            <a:avLst>
              <a:gd name="adj" fmla="val 20000"/>
            </a:avLst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</a:rPr>
              <a:t>➁  Domain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859121" y="14813280"/>
            <a:ext cx="3697833" cy="11612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0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4932273" y="14941296"/>
            <a:ext cx="3551529" cy="996695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F08A24"/>
                </a:solidFill>
                <a:latin typeface="Malgun Gothic"/>
                <a:ea typeface="Malgun Gothic"/>
              </a:rPr>
              <a:t>문서 유형 판별 (Agent)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5F5F5F"/>
                </a:solidFill>
                <a:latin typeface="Malgun Gothic"/>
                <a:ea typeface="Malgun Gothic"/>
              </a:rPr>
              <a:t>계약서 전체 → 유형을 1회 판별해 전 조항에 주입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8584387" y="14648688"/>
            <a:ext cx="237744" cy="0"/>
          </a:xfrm>
          <a:prstGeom prst="line">
            <a:avLst/>
          </a:prstGeom>
          <a:ln w="28575">
            <a:solidFill>
              <a:srgbClr val="C96A0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74"/>
          <p:cNvSpPr/>
          <p:nvPr/>
        </p:nvSpPr>
        <p:spPr>
          <a:xfrm>
            <a:off x="8849563" y="14374367"/>
            <a:ext cx="3697833" cy="548640"/>
          </a:xfrm>
          <a:prstGeom prst="roundRect">
            <a:avLst>
              <a:gd name="adj" fmla="val 20000"/>
            </a:avLst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</a:rPr>
              <a:t>➂  Analysis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849563" y="14813280"/>
            <a:ext cx="3697833" cy="11612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0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8922715" y="14941296"/>
            <a:ext cx="3551529" cy="996695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F08A24"/>
                </a:solidFill>
                <a:latin typeface="Malgun Gothic"/>
                <a:ea typeface="Malgun Gothic"/>
              </a:rPr>
              <a:t>조항 단위 4종 출력 (Agent)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5F5F5F"/>
                </a:solidFill>
                <a:latin typeface="Malgun Gothic"/>
                <a:ea typeface="Malgun Gothic"/>
              </a:rPr>
              <a:t>설명 · 위험 등급/유형 · 근거 · 확인 질문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12574828" y="14648688"/>
            <a:ext cx="237744" cy="0"/>
          </a:xfrm>
          <a:prstGeom prst="line">
            <a:avLst/>
          </a:prstGeom>
          <a:ln w="28575">
            <a:solidFill>
              <a:srgbClr val="C96A0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ounded Rectangle 78"/>
          <p:cNvSpPr/>
          <p:nvPr/>
        </p:nvSpPr>
        <p:spPr>
          <a:xfrm>
            <a:off x="12840004" y="14374367"/>
            <a:ext cx="3697833" cy="548640"/>
          </a:xfrm>
          <a:prstGeom prst="roundRect">
            <a:avLst>
              <a:gd name="adj" fmla="val 20000"/>
            </a:avLst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</a:rPr>
              <a:t>➃  Persona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2840004" y="14813280"/>
            <a:ext cx="3697833" cy="11612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0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TextBox 80"/>
          <p:cNvSpPr txBox="1"/>
          <p:nvPr/>
        </p:nvSpPr>
        <p:spPr>
          <a:xfrm>
            <a:off x="12913156" y="14941296"/>
            <a:ext cx="3551529" cy="996695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F08A24"/>
                </a:solidFill>
                <a:latin typeface="Malgun Gothic"/>
                <a:ea typeface="Malgun Gothic"/>
              </a:rPr>
              <a:t>페르소나 맞춤 재작성 (Agent)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5F5F5F"/>
                </a:solidFill>
                <a:latin typeface="Malgun Gothic"/>
                <a:ea typeface="Malgun Gothic"/>
              </a:rPr>
              <a:t>판정은 유지, 난이도·언어만 조정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16565270" y="14648688"/>
            <a:ext cx="237744" cy="0"/>
          </a:xfrm>
          <a:prstGeom prst="line">
            <a:avLst/>
          </a:prstGeom>
          <a:ln w="28575">
            <a:solidFill>
              <a:srgbClr val="C96A0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Rounded Rectangle 82"/>
          <p:cNvSpPr/>
          <p:nvPr/>
        </p:nvSpPr>
        <p:spPr>
          <a:xfrm>
            <a:off x="16830446" y="14374367"/>
            <a:ext cx="3697833" cy="548640"/>
          </a:xfrm>
          <a:prstGeom prst="roundRect">
            <a:avLst>
              <a:gd name="adj" fmla="val 20000"/>
            </a:avLst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</a:rPr>
              <a:t>➄  Judge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6830446" y="14813280"/>
            <a:ext cx="3697833" cy="11612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0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TextBox 84"/>
          <p:cNvSpPr txBox="1"/>
          <p:nvPr/>
        </p:nvSpPr>
        <p:spPr>
          <a:xfrm>
            <a:off x="16903598" y="14941296"/>
            <a:ext cx="3551529" cy="996695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F08A24"/>
                </a:solidFill>
                <a:latin typeface="Malgun Gothic"/>
                <a:ea typeface="Malgun Gothic"/>
              </a:rPr>
              <a:t>4-Aspect 5점 채점 (Agent)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5F5F5F"/>
                </a:solidFill>
                <a:latin typeface="Malgun Gothic"/>
                <a:ea typeface="Malgun Gothic"/>
              </a:rPr>
              <a:t>미달 시 원인별 재생성, 근거 없으면 판정 거부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18679363" y="15974567"/>
            <a:ext cx="0" cy="182880"/>
          </a:xfrm>
          <a:prstGeom prst="line">
            <a:avLst/>
          </a:prstGeom>
          <a:ln w="19050">
            <a:solidFill>
              <a:srgbClr val="D645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>
            <a:off x="10698480" y="16157447"/>
            <a:ext cx="7980883" cy="0"/>
          </a:xfrm>
          <a:prstGeom prst="line">
            <a:avLst/>
          </a:prstGeom>
          <a:ln w="19050">
            <a:solidFill>
              <a:srgbClr val="D645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10698480" y="16011143"/>
            <a:ext cx="0" cy="146304"/>
          </a:xfrm>
          <a:prstGeom prst="line">
            <a:avLst/>
          </a:prstGeom>
          <a:ln w="19050">
            <a:solidFill>
              <a:srgbClr val="D6454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14688921" y="16011143"/>
            <a:ext cx="0" cy="146304"/>
          </a:xfrm>
          <a:prstGeom prst="line">
            <a:avLst/>
          </a:prstGeom>
          <a:ln w="19050">
            <a:solidFill>
              <a:srgbClr val="D6454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14871801" y="16184880"/>
            <a:ext cx="3624681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000" b="1">
                <a:solidFill>
                  <a:srgbClr val="D64545"/>
                </a:solidFill>
                <a:latin typeface="Malgun Gothic"/>
                <a:ea typeface="Malgun Gothic"/>
              </a:rPr>
              <a:t>재생성 루프(최대 2회) </a:t>
            </a:r>
            <a:r>
              <a:rPr sz="1000" b="0">
                <a:solidFill>
                  <a:srgbClr val="5F5F5F"/>
                </a:solidFill>
                <a:latin typeface="Malgun Gothic"/>
                <a:ea typeface="Malgun Gothic"/>
              </a:rPr>
              <a:t>충실성·위험식별 미달 → Analysis, 이해용이성 미달 → Persona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2717596" y="15992855"/>
            <a:ext cx="0" cy="704088"/>
          </a:xfrm>
          <a:prstGeom prst="line">
            <a:avLst/>
          </a:prstGeom>
          <a:ln w="15875">
            <a:solidFill>
              <a:srgbClr val="F08A2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6708038" y="15992855"/>
            <a:ext cx="0" cy="704088"/>
          </a:xfrm>
          <a:prstGeom prst="line">
            <a:avLst/>
          </a:prstGeom>
          <a:ln w="15875">
            <a:solidFill>
              <a:srgbClr val="F08A2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10698480" y="16523207"/>
            <a:ext cx="0" cy="173736"/>
          </a:xfrm>
          <a:prstGeom prst="line">
            <a:avLst/>
          </a:prstGeom>
          <a:ln w="15875">
            <a:solidFill>
              <a:srgbClr val="F08A2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14688921" y="16523207"/>
            <a:ext cx="0" cy="173736"/>
          </a:xfrm>
          <a:prstGeom prst="line">
            <a:avLst/>
          </a:prstGeom>
          <a:ln w="15875">
            <a:solidFill>
              <a:srgbClr val="F08A2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18679363" y="16523207"/>
            <a:ext cx="0" cy="173736"/>
          </a:xfrm>
          <a:prstGeom prst="line">
            <a:avLst/>
          </a:prstGeom>
          <a:ln w="15875">
            <a:solidFill>
              <a:srgbClr val="F08A2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ounded Rectangle 95"/>
          <p:cNvSpPr/>
          <p:nvPr/>
        </p:nvSpPr>
        <p:spPr>
          <a:xfrm>
            <a:off x="868680" y="16724376"/>
            <a:ext cx="3697833" cy="4354355"/>
          </a:xfrm>
          <a:prstGeom prst="roundRect">
            <a:avLst>
              <a:gd name="adj" fmla="val 6000"/>
            </a:avLst>
          </a:prstGeom>
          <a:solidFill>
            <a:srgbClr val="F1F1F1"/>
          </a:solidFill>
          <a:ln w="12700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Oval 96"/>
          <p:cNvSpPr/>
          <p:nvPr/>
        </p:nvSpPr>
        <p:spPr>
          <a:xfrm>
            <a:off x="996695" y="16815816"/>
            <a:ext cx="109728" cy="109728"/>
          </a:xfrm>
          <a:prstGeom prst="ellipse">
            <a:avLst/>
          </a:prstGeom>
          <a:solidFill>
            <a:srgbClr val="EF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Oval 97"/>
          <p:cNvSpPr/>
          <p:nvPr/>
        </p:nvSpPr>
        <p:spPr>
          <a:xfrm>
            <a:off x="1179575" y="16815816"/>
            <a:ext cx="109728" cy="109728"/>
          </a:xfrm>
          <a:prstGeom prst="ellipse">
            <a:avLst/>
          </a:prstGeom>
          <a:solidFill>
            <a:srgbClr val="F5B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Oval 98"/>
          <p:cNvSpPr/>
          <p:nvPr/>
        </p:nvSpPr>
        <p:spPr>
          <a:xfrm>
            <a:off x="1362455" y="16815816"/>
            <a:ext cx="109728" cy="109728"/>
          </a:xfrm>
          <a:prstGeom prst="ellipse">
            <a:avLst/>
          </a:prstGeom>
          <a:solidFill>
            <a:srgbClr val="61C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0" name="Picture 99" descr="input_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17016984"/>
            <a:ext cx="3697833" cy="4061747"/>
          </a:xfrm>
          <a:prstGeom prst="rect">
            <a:avLst/>
          </a:prstGeom>
        </p:spPr>
      </p:pic>
      <p:sp>
        <p:nvSpPr>
          <p:cNvPr id="101" name="Oval 100"/>
          <p:cNvSpPr/>
          <p:nvPr/>
        </p:nvSpPr>
        <p:spPr>
          <a:xfrm>
            <a:off x="4109313" y="20621531"/>
            <a:ext cx="420624" cy="420624"/>
          </a:xfrm>
          <a:prstGeom prst="ellipse">
            <a:avLst/>
          </a:prstGeom>
          <a:solidFill>
            <a:srgbClr val="F08A2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4859121" y="16724376"/>
            <a:ext cx="3697833" cy="4480560"/>
          </a:xfrm>
          <a:prstGeom prst="roundRect">
            <a:avLst>
              <a:gd name="adj" fmla="val 6000"/>
            </a:avLst>
          </a:prstGeom>
          <a:solidFill>
            <a:srgbClr val="F7F7F7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Oval 102"/>
          <p:cNvSpPr/>
          <p:nvPr/>
        </p:nvSpPr>
        <p:spPr>
          <a:xfrm>
            <a:off x="8054035" y="20702015"/>
            <a:ext cx="420624" cy="420624"/>
          </a:xfrm>
          <a:prstGeom prst="ellipse">
            <a:avLst/>
          </a:prstGeom>
          <a:solidFill>
            <a:srgbClr val="F08A2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996281" y="16907256"/>
            <a:ext cx="3423513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50" b="1">
                <a:solidFill>
                  <a:srgbClr val="2B2B2B"/>
                </a:solidFill>
                <a:latin typeface="Malgun Gothic"/>
                <a:ea typeface="Malgun Gothic"/>
              </a:rPr>
              <a:t>"2기 차임 연체 시 즉시 해지"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5F5F5F"/>
                </a:solidFill>
                <a:latin typeface="Malgun Gothic"/>
                <a:ea typeface="Malgun Gothic"/>
              </a:rPr>
              <a:t>조항 텍스트만으로는 위험 여부를 판단할 수 없음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4996281" y="17913096"/>
            <a:ext cx="3423513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2B2B2B"/>
                </a:solidFill>
                <a:latin typeface="Malgun Gothic"/>
                <a:ea typeface="Malgun Gothic"/>
              </a:rPr>
              <a:t>주택임대차 → </a:t>
            </a:r>
            <a:r>
              <a:rPr sz="1250" b="1">
                <a:solidFill>
                  <a:srgbClr val="2E8B57"/>
                </a:solidFill>
                <a:latin typeface="Malgun Gothic"/>
                <a:ea typeface="Malgun Gothic"/>
              </a:rPr>
              <a:t>안전</a:t>
            </a:r>
          </a:p>
          <a:p>
            <a:pPr algn="l">
              <a:lnSpc>
                <a:spcPct val="110000"/>
              </a:lnSpc>
            </a:pPr>
            <a:r>
              <a:rPr sz="1100" b="0">
                <a:solidFill>
                  <a:srgbClr val="5F5F5F"/>
                </a:solidFill>
                <a:latin typeface="Malgun Gothic"/>
                <a:ea typeface="Malgun Gothic"/>
              </a:rPr>
              <a:t>법정 기준 2기와 일치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4996281" y="18918935"/>
            <a:ext cx="3423513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64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2B2B2B"/>
                </a:solidFill>
                <a:latin typeface="Malgun Gothic"/>
                <a:ea typeface="Malgun Gothic"/>
              </a:rPr>
              <a:t>상가임대차 → </a:t>
            </a:r>
            <a:r>
              <a:rPr sz="1250" b="1">
                <a:solidFill>
                  <a:srgbClr val="D64545"/>
                </a:solidFill>
                <a:latin typeface="Malgun Gothic"/>
                <a:ea typeface="Malgun Gothic"/>
              </a:rPr>
              <a:t>위험</a:t>
            </a:r>
          </a:p>
          <a:p>
            <a:pPr algn="l">
              <a:lnSpc>
                <a:spcPct val="110000"/>
              </a:lnSpc>
            </a:pPr>
            <a:r>
              <a:rPr sz="1100" b="0">
                <a:solidFill>
                  <a:srgbClr val="5F5F5F"/>
                </a:solidFill>
                <a:latin typeface="Malgun Gothic"/>
                <a:ea typeface="Malgun Gothic"/>
              </a:rPr>
              <a:t>법정 기준은 3기 — 세입자에게 불리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996281" y="19924776"/>
            <a:ext cx="2874873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0">
                <a:solidFill>
                  <a:srgbClr val="5F5F5F"/>
                </a:solidFill>
                <a:latin typeface="Malgun Gothic"/>
                <a:ea typeface="Malgun Gothic"/>
              </a:rPr>
              <a:t>문서 유형을 먼저 판별해 전 조항 분석에 주입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8849563" y="16724376"/>
            <a:ext cx="3697833" cy="4138354"/>
          </a:xfrm>
          <a:prstGeom prst="roundRect">
            <a:avLst>
              <a:gd name="adj" fmla="val 6000"/>
            </a:avLst>
          </a:prstGeom>
          <a:solidFill>
            <a:srgbClr val="F1F1F1"/>
          </a:solidFill>
          <a:ln w="12700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Oval 108"/>
          <p:cNvSpPr/>
          <p:nvPr/>
        </p:nvSpPr>
        <p:spPr>
          <a:xfrm>
            <a:off x="8977579" y="16815816"/>
            <a:ext cx="109728" cy="109728"/>
          </a:xfrm>
          <a:prstGeom prst="ellipse">
            <a:avLst/>
          </a:prstGeom>
          <a:solidFill>
            <a:srgbClr val="EF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Oval 109"/>
          <p:cNvSpPr/>
          <p:nvPr/>
        </p:nvSpPr>
        <p:spPr>
          <a:xfrm>
            <a:off x="9160459" y="16815816"/>
            <a:ext cx="109728" cy="109728"/>
          </a:xfrm>
          <a:prstGeom prst="ellipse">
            <a:avLst/>
          </a:prstGeom>
          <a:solidFill>
            <a:srgbClr val="F5B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Oval 110"/>
          <p:cNvSpPr/>
          <p:nvPr/>
        </p:nvSpPr>
        <p:spPr>
          <a:xfrm>
            <a:off x="9343339" y="16815816"/>
            <a:ext cx="109728" cy="109728"/>
          </a:xfrm>
          <a:prstGeom prst="ellipse">
            <a:avLst/>
          </a:prstGeom>
          <a:solidFill>
            <a:srgbClr val="61C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2" name="Picture 111" descr="result_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9563" y="17016984"/>
            <a:ext cx="3697833" cy="3845746"/>
          </a:xfrm>
          <a:prstGeom prst="rect">
            <a:avLst/>
          </a:prstGeom>
        </p:spPr>
      </p:pic>
      <p:sp>
        <p:nvSpPr>
          <p:cNvPr id="113" name="Oval 112"/>
          <p:cNvSpPr/>
          <p:nvPr/>
        </p:nvSpPr>
        <p:spPr>
          <a:xfrm>
            <a:off x="12090196" y="20405530"/>
            <a:ext cx="420624" cy="420624"/>
          </a:xfrm>
          <a:prstGeom prst="ellipse">
            <a:avLst/>
          </a:prstGeom>
          <a:solidFill>
            <a:srgbClr val="F08A2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13288677" y="16724376"/>
            <a:ext cx="2800487" cy="3291840"/>
          </a:xfrm>
          <a:prstGeom prst="roundRect">
            <a:avLst>
              <a:gd name="adj" fmla="val 6000"/>
            </a:avLst>
          </a:prstGeom>
          <a:solidFill>
            <a:srgbClr val="F1F1F1"/>
          </a:solidFill>
          <a:ln w="12700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Oval 114"/>
          <p:cNvSpPr/>
          <p:nvPr/>
        </p:nvSpPr>
        <p:spPr>
          <a:xfrm>
            <a:off x="13416693" y="16815816"/>
            <a:ext cx="109728" cy="109728"/>
          </a:xfrm>
          <a:prstGeom prst="ellipse">
            <a:avLst/>
          </a:prstGeom>
          <a:solidFill>
            <a:srgbClr val="EF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Oval 115"/>
          <p:cNvSpPr/>
          <p:nvPr/>
        </p:nvSpPr>
        <p:spPr>
          <a:xfrm>
            <a:off x="13599573" y="16815816"/>
            <a:ext cx="109728" cy="109728"/>
          </a:xfrm>
          <a:prstGeom prst="ellipse">
            <a:avLst/>
          </a:prstGeom>
          <a:solidFill>
            <a:srgbClr val="F5B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Oval 116"/>
          <p:cNvSpPr/>
          <p:nvPr/>
        </p:nvSpPr>
        <p:spPr>
          <a:xfrm>
            <a:off x="13782453" y="16815816"/>
            <a:ext cx="109728" cy="109728"/>
          </a:xfrm>
          <a:prstGeom prst="ellipse">
            <a:avLst/>
          </a:prstGeom>
          <a:solidFill>
            <a:srgbClr val="61C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8" name="Picture 117" descr="persona_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88677" y="17016984"/>
            <a:ext cx="2800487" cy="2999231"/>
          </a:xfrm>
          <a:prstGeom prst="rect">
            <a:avLst/>
          </a:prstGeom>
        </p:spPr>
      </p:pic>
      <p:sp>
        <p:nvSpPr>
          <p:cNvPr id="119" name="Oval 118"/>
          <p:cNvSpPr/>
          <p:nvPr/>
        </p:nvSpPr>
        <p:spPr>
          <a:xfrm>
            <a:off x="15631965" y="19559016"/>
            <a:ext cx="420624" cy="420624"/>
          </a:xfrm>
          <a:prstGeom prst="ellipse">
            <a:avLst/>
          </a:prstGeom>
          <a:solidFill>
            <a:srgbClr val="F08A2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12840004" y="20153376"/>
            <a:ext cx="3697833" cy="987820"/>
          </a:xfrm>
          <a:prstGeom prst="roundRect">
            <a:avLst>
              <a:gd name="adj" fmla="val 6000"/>
            </a:avLst>
          </a:prstGeom>
          <a:solidFill>
            <a:srgbClr val="F1F1F1"/>
          </a:solidFill>
          <a:ln w="12700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" name="Oval 120"/>
          <p:cNvSpPr/>
          <p:nvPr/>
        </p:nvSpPr>
        <p:spPr>
          <a:xfrm>
            <a:off x="12968020" y="20244816"/>
            <a:ext cx="109728" cy="109728"/>
          </a:xfrm>
          <a:prstGeom prst="ellipse">
            <a:avLst/>
          </a:prstGeom>
          <a:solidFill>
            <a:srgbClr val="EF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" name="Oval 121"/>
          <p:cNvSpPr/>
          <p:nvPr/>
        </p:nvSpPr>
        <p:spPr>
          <a:xfrm>
            <a:off x="13150900" y="20244816"/>
            <a:ext cx="109728" cy="109728"/>
          </a:xfrm>
          <a:prstGeom prst="ellipse">
            <a:avLst/>
          </a:prstGeom>
          <a:solidFill>
            <a:srgbClr val="F5B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Oval 122"/>
          <p:cNvSpPr/>
          <p:nvPr/>
        </p:nvSpPr>
        <p:spPr>
          <a:xfrm>
            <a:off x="13333780" y="20244816"/>
            <a:ext cx="109728" cy="109728"/>
          </a:xfrm>
          <a:prstGeom prst="ellipse">
            <a:avLst/>
          </a:prstGeom>
          <a:solidFill>
            <a:srgbClr val="61C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4" name="Picture 123" descr="multilang_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40004" y="20445984"/>
            <a:ext cx="3697833" cy="695213"/>
          </a:xfrm>
          <a:prstGeom prst="rect">
            <a:avLst/>
          </a:prstGeom>
        </p:spPr>
      </p:pic>
      <p:sp>
        <p:nvSpPr>
          <p:cNvPr id="125" name="Rounded Rectangle 124"/>
          <p:cNvSpPr/>
          <p:nvPr/>
        </p:nvSpPr>
        <p:spPr>
          <a:xfrm>
            <a:off x="17131902" y="16724376"/>
            <a:ext cx="3094920" cy="4480560"/>
          </a:xfrm>
          <a:prstGeom prst="roundRect">
            <a:avLst>
              <a:gd name="adj" fmla="val 6000"/>
            </a:avLst>
          </a:prstGeom>
          <a:solidFill>
            <a:srgbClr val="F1F1F1"/>
          </a:solidFill>
          <a:ln w="12700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" name="Oval 125"/>
          <p:cNvSpPr/>
          <p:nvPr/>
        </p:nvSpPr>
        <p:spPr>
          <a:xfrm>
            <a:off x="17259918" y="16815816"/>
            <a:ext cx="109728" cy="109728"/>
          </a:xfrm>
          <a:prstGeom prst="ellipse">
            <a:avLst/>
          </a:prstGeom>
          <a:solidFill>
            <a:srgbClr val="EF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" name="Oval 126"/>
          <p:cNvSpPr/>
          <p:nvPr/>
        </p:nvSpPr>
        <p:spPr>
          <a:xfrm>
            <a:off x="17442798" y="16815816"/>
            <a:ext cx="109728" cy="109728"/>
          </a:xfrm>
          <a:prstGeom prst="ellipse">
            <a:avLst/>
          </a:prstGeom>
          <a:solidFill>
            <a:srgbClr val="F5B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" name="Oval 127"/>
          <p:cNvSpPr/>
          <p:nvPr/>
        </p:nvSpPr>
        <p:spPr>
          <a:xfrm>
            <a:off x="17625678" y="16815816"/>
            <a:ext cx="109728" cy="109728"/>
          </a:xfrm>
          <a:prstGeom prst="ellipse">
            <a:avLst/>
          </a:prstGeom>
          <a:solidFill>
            <a:srgbClr val="61C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9" name="Picture 128" descr="detail_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131902" y="17016984"/>
            <a:ext cx="3094920" cy="4187951"/>
          </a:xfrm>
          <a:prstGeom prst="rect">
            <a:avLst/>
          </a:prstGeom>
        </p:spPr>
      </p:pic>
      <p:sp>
        <p:nvSpPr>
          <p:cNvPr id="130" name="Oval 129"/>
          <p:cNvSpPr/>
          <p:nvPr/>
        </p:nvSpPr>
        <p:spPr>
          <a:xfrm>
            <a:off x="19769623" y="20747735"/>
            <a:ext cx="420624" cy="420624"/>
          </a:xfrm>
          <a:prstGeom prst="ellipse">
            <a:avLst/>
          </a:prstGeom>
          <a:solidFill>
            <a:srgbClr val="F08A2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Malgun Gothic"/>
                <a:ea typeface="Malgun Gothic"/>
              </a:rPr>
              <a:t>5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68680" y="21250656"/>
            <a:ext cx="3697833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050" b="0">
                <a:solidFill>
                  <a:srgbClr val="5F5F5F"/>
                </a:solidFill>
                <a:latin typeface="Malgun Gothic"/>
                <a:ea typeface="Malgun Gothic"/>
              </a:rPr>
              <a:t>[ 계약서 입력 · 텍스트/PDF/사진 ]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859121" y="21250656"/>
            <a:ext cx="3697833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050" b="0">
                <a:solidFill>
                  <a:srgbClr val="5F5F5F"/>
                </a:solidFill>
                <a:latin typeface="Malgun Gothic"/>
                <a:ea typeface="Malgun Gothic"/>
              </a:rPr>
              <a:t>[ 같은 문언, 다른 판정 ]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849563" y="21250656"/>
            <a:ext cx="3697833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050" b="0">
                <a:solidFill>
                  <a:srgbClr val="5F5F5F"/>
                </a:solidFill>
                <a:latin typeface="Malgun Gothic"/>
                <a:ea typeface="Malgun Gothic"/>
              </a:rPr>
              <a:t>[ 조항별 위험/안전 배지 · 근거 ]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2840004" y="21250656"/>
            <a:ext cx="3697833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050" b="0">
                <a:solidFill>
                  <a:srgbClr val="5F5F5F"/>
                </a:solidFill>
                <a:latin typeface="Malgun Gothic"/>
                <a:ea typeface="Malgun Gothic"/>
              </a:rPr>
              <a:t>[ 페르소나 선택 · 다국어 설명 ]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6830446" y="21250656"/>
            <a:ext cx="3697833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050" b="0">
                <a:solidFill>
                  <a:srgbClr val="5F5F5F"/>
                </a:solidFill>
                <a:latin typeface="Malgun Gothic"/>
                <a:ea typeface="Malgun Gothic"/>
              </a:rPr>
              <a:t>[ 조항 상세 · 근거 하이라이트 · 확인 질문 ]</a:t>
            </a:r>
          </a:p>
        </p:txBody>
      </p:sp>
      <p:sp>
        <p:nvSpPr>
          <p:cNvPr id="136" name="Oval 135"/>
          <p:cNvSpPr/>
          <p:nvPr/>
        </p:nvSpPr>
        <p:spPr>
          <a:xfrm>
            <a:off x="868680" y="21735288"/>
            <a:ext cx="329184" cy="329184"/>
          </a:xfrm>
          <a:prstGeom prst="ellipse">
            <a:avLst/>
          </a:prstGeom>
          <a:solidFill>
            <a:srgbClr val="F08A2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289304" y="21671280"/>
            <a:ext cx="3277209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50" b="1">
                <a:solidFill>
                  <a:srgbClr val="2B2B2B"/>
                </a:solidFill>
                <a:latin typeface="Malgun Gothic"/>
                <a:ea typeface="Malgun Gothic"/>
              </a:rPr>
              <a:t>[ Parser ]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941832" y="22119335"/>
            <a:ext cx="3606393" cy="20208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201168" indent="-201168">
              <a:lnSpc>
                <a:spcPct val="112000"/>
              </a:lnSpc>
              <a:spcAft>
                <a:spcPts val="300"/>
              </a:spcAft>
              <a:buFont typeface="Arial"/>
              <a:buChar char="•"/>
            </a:pPr>
            <a:r>
              <a:rPr sz="1200" b="0">
                <a:solidFill>
                  <a:srgbClr val="2B2B2B"/>
                </a:solidFill>
                <a:latin typeface="Malgun Gothic"/>
                <a:ea typeface="Malgun Gothic"/>
              </a:rPr>
              <a:t>"제N조"가 줄 시작일 때만 새 조항, 문장 중간 조 참조는 무시</a:t>
            </a:r>
          </a:p>
          <a:p>
            <a:pPr algn="l" marL="201168" indent="-201168">
              <a:lnSpc>
                <a:spcPct val="112000"/>
              </a:lnSpc>
              <a:spcAft>
                <a:spcPts val="300"/>
              </a:spcAft>
              <a:buFont typeface="Arial"/>
              <a:buChar char="•"/>
            </a:pPr>
            <a:r>
              <a:rPr sz="1200" b="0">
                <a:solidFill>
                  <a:srgbClr val="2B2B2B"/>
                </a:solidFill>
                <a:latin typeface="Malgun Gothic"/>
                <a:ea typeface="Malgun Gothic"/>
              </a:rPr>
              <a:t>별지·양식 빈칸 조각 오인 문제 수정(완결 문장 판별)</a:t>
            </a:r>
          </a:p>
          <a:p>
            <a:pPr algn="l" marL="201168" indent="-201168">
              <a:lnSpc>
                <a:spcPct val="112000"/>
              </a:lnSpc>
              <a:spcAft>
                <a:spcPts val="300"/>
              </a:spcAft>
              <a:buFont typeface="Arial"/>
              <a:buChar char="•"/>
            </a:pPr>
            <a:r>
              <a:rPr sz="1200" b="0">
                <a:solidFill>
                  <a:srgbClr val="2B2B2B"/>
                </a:solidFill>
                <a:latin typeface="Malgun Gothic"/>
                <a:ea typeface="Malgun Gothic"/>
              </a:rPr>
              <a:t>LLM 호출 없는 규칙 기반 전처리</a:t>
            </a:r>
          </a:p>
        </p:txBody>
      </p:sp>
      <p:sp>
        <p:nvSpPr>
          <p:cNvPr id="139" name="Oval 138"/>
          <p:cNvSpPr/>
          <p:nvPr/>
        </p:nvSpPr>
        <p:spPr>
          <a:xfrm>
            <a:off x="4859121" y="21735288"/>
            <a:ext cx="329184" cy="329184"/>
          </a:xfrm>
          <a:prstGeom prst="ellipse">
            <a:avLst/>
          </a:prstGeom>
          <a:solidFill>
            <a:srgbClr val="F08A2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279745" y="21671280"/>
            <a:ext cx="3277209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50" b="1">
                <a:solidFill>
                  <a:srgbClr val="2B2B2B"/>
                </a:solidFill>
                <a:latin typeface="Malgun Gothic"/>
                <a:ea typeface="Malgun Gothic"/>
              </a:rPr>
              <a:t>[ Domain ]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4932273" y="22119335"/>
            <a:ext cx="3606393" cy="20208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201168" indent="-201168">
              <a:lnSpc>
                <a:spcPct val="112000"/>
              </a:lnSpc>
              <a:spcAft>
                <a:spcPts val="300"/>
              </a:spcAft>
              <a:buFont typeface="Arial"/>
              <a:buChar char="•"/>
            </a:pPr>
            <a:r>
              <a:rPr sz="1200" b="0">
                <a:solidFill>
                  <a:srgbClr val="2B2B2B"/>
                </a:solidFill>
                <a:latin typeface="Malgun Gothic"/>
                <a:ea typeface="Malgun Gothic"/>
              </a:rPr>
              <a:t>주택/상가 임대차·대출·보험 등 유형을 1회 추론해 공유 상태에 주입</a:t>
            </a:r>
          </a:p>
          <a:p>
            <a:pPr algn="l" marL="201168" indent="-201168">
              <a:lnSpc>
                <a:spcPct val="112000"/>
              </a:lnSpc>
              <a:spcAft>
                <a:spcPts val="300"/>
              </a:spcAft>
              <a:buFont typeface="Arial"/>
              <a:buChar char="•"/>
            </a:pPr>
            <a:r>
              <a:rPr sz="1200" b="0">
                <a:solidFill>
                  <a:srgbClr val="2B2B2B"/>
                </a:solidFill>
                <a:latin typeface="Malgun Gothic"/>
                <a:ea typeface="Malgun Gothic"/>
              </a:rPr>
              <a:t>유형 정보를 "안전" 신호로 오용하던 회귀를 2×2 어블레이션으로 규명 후 재설계해 정식 반영</a:t>
            </a:r>
          </a:p>
        </p:txBody>
      </p:sp>
      <p:sp>
        <p:nvSpPr>
          <p:cNvPr id="142" name="Oval 141"/>
          <p:cNvSpPr/>
          <p:nvPr/>
        </p:nvSpPr>
        <p:spPr>
          <a:xfrm>
            <a:off x="8849563" y="21735288"/>
            <a:ext cx="329184" cy="329184"/>
          </a:xfrm>
          <a:prstGeom prst="ellipse">
            <a:avLst/>
          </a:prstGeom>
          <a:solidFill>
            <a:srgbClr val="F08A2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9270187" y="21671280"/>
            <a:ext cx="3277209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50" b="1">
                <a:solidFill>
                  <a:srgbClr val="2B2B2B"/>
                </a:solidFill>
                <a:latin typeface="Malgun Gothic"/>
                <a:ea typeface="Malgun Gothic"/>
              </a:rPr>
              <a:t>[ Analysis ]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922715" y="22119335"/>
            <a:ext cx="3606393" cy="20208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201168" indent="-201168">
              <a:lnSpc>
                <a:spcPct val="112000"/>
              </a:lnSpc>
              <a:spcAft>
                <a:spcPts val="300"/>
              </a:spcAft>
              <a:buFont typeface="Arial"/>
              <a:buChar char="•"/>
            </a:pPr>
            <a:r>
              <a:rPr sz="1200" b="0">
                <a:solidFill>
                  <a:srgbClr val="2B2B2B"/>
                </a:solidFill>
                <a:latin typeface="Malgun Gothic"/>
                <a:ea typeface="Malgun Gothic"/>
              </a:rPr>
              <a:t>위험/주의/안전 3단계 + 약관규제법 대응 위험 유형 10종</a:t>
            </a:r>
          </a:p>
          <a:p>
            <a:pPr algn="l" marL="201168" indent="-201168">
              <a:lnSpc>
                <a:spcPct val="112000"/>
              </a:lnSpc>
              <a:spcAft>
                <a:spcPts val="300"/>
              </a:spcAft>
              <a:buFont typeface="Arial"/>
              <a:buChar char="•"/>
            </a:pPr>
            <a:r>
              <a:rPr sz="1200" b="0">
                <a:solidFill>
                  <a:srgbClr val="2B2B2B"/>
                </a:solidFill>
                <a:latin typeface="Malgun Gothic"/>
                <a:ea typeface="Malgun Gothic"/>
              </a:rPr>
              <a:t>예: 수리비 전가 조항 → 위험·책임 면제, 근거 민법 §623 수선의무 배제, 질문 "큰 수리 비용은 누가?"</a:t>
            </a:r>
          </a:p>
          <a:p>
            <a:pPr algn="l" marL="201168" indent="-201168">
              <a:lnSpc>
                <a:spcPct val="112000"/>
              </a:lnSpc>
              <a:spcAft>
                <a:spcPts val="300"/>
              </a:spcAft>
              <a:buFont typeface="Arial"/>
              <a:buChar char="•"/>
            </a:pPr>
            <a:r>
              <a:rPr sz="1200" b="0">
                <a:solidFill>
                  <a:srgbClr val="2B2B2B"/>
                </a:solidFill>
                <a:latin typeface="Malgun Gothic"/>
                <a:ea typeface="Malgun Gothic"/>
              </a:rPr>
              <a:t>근거 인용이 원문에 없으면 판정 거부(fail-closed)</a:t>
            </a:r>
          </a:p>
        </p:txBody>
      </p:sp>
      <p:sp>
        <p:nvSpPr>
          <p:cNvPr id="145" name="Oval 144"/>
          <p:cNvSpPr/>
          <p:nvPr/>
        </p:nvSpPr>
        <p:spPr>
          <a:xfrm>
            <a:off x="12840004" y="21735288"/>
            <a:ext cx="329184" cy="329184"/>
          </a:xfrm>
          <a:prstGeom prst="ellipse">
            <a:avLst/>
          </a:prstGeom>
          <a:solidFill>
            <a:srgbClr val="F08A2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3260628" y="21671280"/>
            <a:ext cx="3277209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50" b="1">
                <a:solidFill>
                  <a:srgbClr val="2B2B2B"/>
                </a:solidFill>
                <a:latin typeface="Malgun Gothic"/>
                <a:ea typeface="Malgun Gothic"/>
              </a:rPr>
              <a:t>[ Persona ]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913156" y="22119335"/>
            <a:ext cx="3606393" cy="20208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201168" indent="-201168">
              <a:lnSpc>
                <a:spcPct val="112000"/>
              </a:lnSpc>
              <a:spcAft>
                <a:spcPts val="300"/>
              </a:spcAft>
              <a:buFont typeface="Arial"/>
              <a:buChar char="•"/>
            </a:pPr>
            <a:r>
              <a:rPr sz="1200" b="0">
                <a:solidFill>
                  <a:srgbClr val="2B2B2B"/>
                </a:solidFill>
                <a:latin typeface="Malgun Gothic"/>
                <a:ea typeface="Malgun Gothic"/>
              </a:rPr>
              <a:t>일반 성인 / 고령층 / 외국인(영·중·베) 난이도·언어 조정</a:t>
            </a:r>
          </a:p>
          <a:p>
            <a:pPr algn="l" marL="201168" indent="-201168">
              <a:lnSpc>
                <a:spcPct val="112000"/>
              </a:lnSpc>
              <a:spcAft>
                <a:spcPts val="300"/>
              </a:spcAft>
              <a:buFont typeface="Arial"/>
              <a:buChar char="•"/>
            </a:pPr>
            <a:r>
              <a:rPr sz="1200" b="0">
                <a:solidFill>
                  <a:srgbClr val="2B2B2B"/>
                </a:solidFill>
                <a:latin typeface="Malgun Gothic"/>
                <a:ea typeface="Malgun Gothic"/>
              </a:rPr>
              <a:t>고령층 모드: 문장 길이 −31%, 전문용어 −52%, 위험 판정 24/24 불변</a:t>
            </a:r>
          </a:p>
          <a:p>
            <a:pPr algn="l" marL="201168" indent="-201168">
              <a:lnSpc>
                <a:spcPct val="112000"/>
              </a:lnSpc>
              <a:spcAft>
                <a:spcPts val="300"/>
              </a:spcAft>
              <a:buFont typeface="Arial"/>
              <a:buChar char="•"/>
            </a:pPr>
            <a:r>
              <a:rPr sz="1200" b="0">
                <a:solidFill>
                  <a:srgbClr val="2B2B2B"/>
                </a:solidFill>
                <a:latin typeface="Malgun Gothic"/>
                <a:ea typeface="Malgun Gothic"/>
              </a:rPr>
              <a:t>TTS 낭독 · 점자 호환 텍스트</a:t>
            </a:r>
          </a:p>
        </p:txBody>
      </p:sp>
      <p:sp>
        <p:nvSpPr>
          <p:cNvPr id="148" name="Oval 147"/>
          <p:cNvSpPr/>
          <p:nvPr/>
        </p:nvSpPr>
        <p:spPr>
          <a:xfrm>
            <a:off x="16830446" y="21735288"/>
            <a:ext cx="329184" cy="329184"/>
          </a:xfrm>
          <a:prstGeom prst="ellipse">
            <a:avLst/>
          </a:prstGeom>
          <a:solidFill>
            <a:srgbClr val="F08A2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Malgun Gothic"/>
                <a:ea typeface="Malgun Gothic"/>
              </a:rPr>
              <a:t>5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7251070" y="21671280"/>
            <a:ext cx="3277209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50" b="1">
                <a:solidFill>
                  <a:srgbClr val="2B2B2B"/>
                </a:solidFill>
                <a:latin typeface="Malgun Gothic"/>
                <a:ea typeface="Malgun Gothic"/>
              </a:rPr>
              <a:t>[ Judge ]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6903598" y="22119335"/>
            <a:ext cx="3606393" cy="20208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201168" indent="-201168">
              <a:lnSpc>
                <a:spcPct val="112000"/>
              </a:lnSpc>
              <a:spcAft>
                <a:spcPts val="300"/>
              </a:spcAft>
              <a:buFont typeface="Arial"/>
              <a:buChar char="•"/>
            </a:pPr>
            <a:r>
              <a:rPr sz="1200" b="0">
                <a:solidFill>
                  <a:srgbClr val="2B2B2B"/>
                </a:solidFill>
                <a:latin typeface="Malgun Gothic"/>
                <a:ea typeface="Malgun Gothic"/>
              </a:rPr>
              <a:t>Clarity · Faithfulness · Risk Coverage · Actionability 각 5점(Sonnet)</a:t>
            </a:r>
          </a:p>
          <a:p>
            <a:pPr algn="l" marL="201168" indent="-201168">
              <a:lnSpc>
                <a:spcPct val="112000"/>
              </a:lnSpc>
              <a:spcAft>
                <a:spcPts val="300"/>
              </a:spcAft>
              <a:buFont typeface="Arial"/>
              <a:buChar char="•"/>
            </a:pPr>
            <a:r>
              <a:rPr sz="1200" b="0">
                <a:solidFill>
                  <a:srgbClr val="2B2B2B"/>
                </a:solidFill>
                <a:latin typeface="Malgun Gothic"/>
                <a:ea typeface="Malgun Gothic"/>
              </a:rPr>
              <a:t>평균 3.5 미만 시 원인별 분기 재실행(최대 2회), 실패 시 재검토 플래그</a:t>
            </a:r>
          </a:p>
          <a:p>
            <a:pPr algn="l" marL="201168" indent="-201168">
              <a:lnSpc>
                <a:spcPct val="112000"/>
              </a:lnSpc>
              <a:spcAft>
                <a:spcPts val="300"/>
              </a:spcAft>
              <a:buFont typeface="Arial"/>
              <a:buChar char="•"/>
            </a:pPr>
            <a:r>
              <a:rPr sz="1200" b="0">
                <a:solidFill>
                  <a:srgbClr val="2B2B2B"/>
                </a:solidFill>
                <a:latin typeface="Malgun Gothic"/>
                <a:ea typeface="Malgun Gothic"/>
              </a:rPr>
              <a:t>4모델(Claude·Solar·DeepSeek·Gemini) 교차검증</a:t>
            </a:r>
          </a:p>
        </p:txBody>
      </p:sp>
      <p:sp>
        <p:nvSpPr>
          <p:cNvPr id="151" name="Oval 150"/>
          <p:cNvSpPr/>
          <p:nvPr/>
        </p:nvSpPr>
        <p:spPr>
          <a:xfrm>
            <a:off x="868680" y="25456896"/>
            <a:ext cx="155448" cy="155448"/>
          </a:xfrm>
          <a:prstGeom prst="ellipse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2" name="TextBox 151"/>
          <p:cNvSpPr txBox="1"/>
          <p:nvPr/>
        </p:nvSpPr>
        <p:spPr>
          <a:xfrm>
            <a:off x="1143000" y="25310592"/>
            <a:ext cx="109728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900" b="1">
                <a:solidFill>
                  <a:srgbClr val="2B2B2B"/>
                </a:solidFill>
                <a:latin typeface="Malgun Gothic"/>
                <a:ea typeface="Malgun Gothic"/>
              </a:rPr>
              <a:t>연구 결과 (3회 반복 다수결)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868680" y="25877520"/>
            <a:ext cx="2103120" cy="1737360"/>
          </a:xfrm>
          <a:prstGeom prst="roundRect">
            <a:avLst>
              <a:gd name="adj" fmla="val 8000"/>
            </a:avLst>
          </a:prstGeom>
          <a:solidFill>
            <a:srgbClr val="FF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" name="TextBox 153"/>
          <p:cNvSpPr txBox="1"/>
          <p:nvPr/>
        </p:nvSpPr>
        <p:spPr>
          <a:xfrm>
            <a:off x="868680" y="25950672"/>
            <a:ext cx="2103120" cy="955547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3000" b="1">
                <a:solidFill>
                  <a:srgbClr val="F08A24"/>
                </a:solidFill>
                <a:latin typeface="Malgun Gothic"/>
                <a:ea typeface="Malgun Gothic"/>
              </a:rPr>
              <a:t>211행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941832" y="26885188"/>
            <a:ext cx="1956815" cy="6949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5F5F5F"/>
                </a:solidFill>
                <a:latin typeface="Malgun Gothic"/>
                <a:ea typeface="Malgun Gothic"/>
              </a:rPr>
              <a:t>정부·법원·공정위 판정 기반
골든데이터셋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3136391" y="25877520"/>
            <a:ext cx="2103120" cy="1737360"/>
          </a:xfrm>
          <a:prstGeom prst="roundRect">
            <a:avLst>
              <a:gd name="adj" fmla="val 8000"/>
            </a:avLst>
          </a:prstGeom>
          <a:solidFill>
            <a:srgbClr val="FF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7" name="TextBox 156"/>
          <p:cNvSpPr txBox="1"/>
          <p:nvPr/>
        </p:nvSpPr>
        <p:spPr>
          <a:xfrm>
            <a:off x="3136391" y="25950672"/>
            <a:ext cx="2103120" cy="955547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2600" b="1">
                <a:solidFill>
                  <a:srgbClr val="F08A24"/>
                </a:solidFill>
                <a:latin typeface="Malgun Gothic"/>
                <a:ea typeface="Malgun Gothic"/>
              </a:rPr>
              <a:t>리콜 1.00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3209544" y="26885188"/>
            <a:ext cx="1956815" cy="6949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5F5F5F"/>
                </a:solidFill>
                <a:latin typeface="Malgun Gothic"/>
                <a:ea typeface="Malgun Gothic"/>
              </a:rPr>
              <a:t>A등급 위험 조항 10건
미탐지 0건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5404104" y="25877520"/>
            <a:ext cx="2103120" cy="1737360"/>
          </a:xfrm>
          <a:prstGeom prst="roundRect">
            <a:avLst>
              <a:gd name="adj" fmla="val 8000"/>
            </a:avLst>
          </a:prstGeom>
          <a:solidFill>
            <a:srgbClr val="FF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0" name="TextBox 159"/>
          <p:cNvSpPr txBox="1"/>
          <p:nvPr/>
        </p:nvSpPr>
        <p:spPr>
          <a:xfrm>
            <a:off x="5404104" y="25950672"/>
            <a:ext cx="2103120" cy="955547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3000" b="1">
                <a:solidFill>
                  <a:srgbClr val="2E8B57"/>
                </a:solidFill>
                <a:latin typeface="Malgun Gothic"/>
                <a:ea typeface="Malgun Gothic"/>
              </a:rPr>
              <a:t>오탐 0건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5477256" y="26885188"/>
            <a:ext cx="1956815" cy="6949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5F5F5F"/>
                </a:solidFill>
                <a:latin typeface="Malgun Gothic"/>
                <a:ea typeface="Malgun Gothic"/>
              </a:rPr>
              <a:t>정상 표준계약서
94개 조항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7671815" y="25877520"/>
            <a:ext cx="2103120" cy="1737360"/>
          </a:xfrm>
          <a:prstGeom prst="roundRect">
            <a:avLst>
              <a:gd name="adj" fmla="val 8000"/>
            </a:avLst>
          </a:prstGeom>
          <a:solidFill>
            <a:srgbClr val="FF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3" name="TextBox 162"/>
          <p:cNvSpPr txBox="1"/>
          <p:nvPr/>
        </p:nvSpPr>
        <p:spPr>
          <a:xfrm>
            <a:off x="7671815" y="25950672"/>
            <a:ext cx="2103120" cy="955547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2600" b="1">
                <a:solidFill>
                  <a:srgbClr val="F08A24"/>
                </a:solidFill>
                <a:latin typeface="Malgun Gothic"/>
                <a:ea typeface="Malgun Gothic"/>
              </a:rPr>
              <a:t>0.52→0.70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7744967" y="26885188"/>
            <a:ext cx="1956815" cy="6949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5F5F5F"/>
                </a:solidFill>
                <a:latin typeface="Malgun Gothic"/>
                <a:ea typeface="Malgun Gothic"/>
              </a:rPr>
              <a:t>동일 Haiku 모델
파이프라인 적용 시 정확도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9939528" y="25877520"/>
            <a:ext cx="2103120" cy="1737360"/>
          </a:xfrm>
          <a:prstGeom prst="roundRect">
            <a:avLst>
              <a:gd name="adj" fmla="val 8000"/>
            </a:avLst>
          </a:prstGeom>
          <a:solidFill>
            <a:srgbClr val="FF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6" name="TextBox 165"/>
          <p:cNvSpPr txBox="1"/>
          <p:nvPr/>
        </p:nvSpPr>
        <p:spPr>
          <a:xfrm>
            <a:off x="9939528" y="25950672"/>
            <a:ext cx="2103120" cy="955547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3000" b="1">
                <a:solidFill>
                  <a:srgbClr val="F08A24"/>
                </a:solidFill>
                <a:latin typeface="Malgun Gothic"/>
                <a:ea typeface="Malgun Gothic"/>
              </a:rPr>
              <a:t>57.8%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0012680" y="26885188"/>
            <a:ext cx="1956815" cy="6949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5F5F5F"/>
                </a:solidFill>
                <a:latin typeface="Malgun Gothic"/>
                <a:ea typeface="Malgun Gothic"/>
              </a:rPr>
              <a:t>고령층 맞춤 설명 선호
(일반 대중 33명 블라인드)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12207240" y="25877520"/>
            <a:ext cx="2103120" cy="1737360"/>
          </a:xfrm>
          <a:prstGeom prst="roundRect">
            <a:avLst>
              <a:gd name="adj" fmla="val 8000"/>
            </a:avLst>
          </a:prstGeom>
          <a:solidFill>
            <a:srgbClr val="FF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9" name="TextBox 168"/>
          <p:cNvSpPr txBox="1"/>
          <p:nvPr/>
        </p:nvSpPr>
        <p:spPr>
          <a:xfrm>
            <a:off x="12207240" y="25950672"/>
            <a:ext cx="2103120" cy="955547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3000" b="1">
                <a:solidFill>
                  <a:srgbClr val="F08A24"/>
                </a:solidFill>
                <a:latin typeface="Malgun Gothic"/>
                <a:ea typeface="Malgun Gothic"/>
              </a:rPr>
              <a:t>71.4%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2280392" y="26885188"/>
            <a:ext cx="1956815" cy="6949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5F5F5F"/>
                </a:solidFill>
                <a:latin typeface="Malgun Gothic"/>
                <a:ea typeface="Malgun Gothic"/>
              </a:rPr>
              <a:t>시스템–정답 일치
(일반인–정답 61.0%)</a:t>
            </a:r>
          </a:p>
        </p:txBody>
      </p:sp>
      <p:sp>
        <p:nvSpPr>
          <p:cNvPr id="171" name="Oval 170"/>
          <p:cNvSpPr/>
          <p:nvPr/>
        </p:nvSpPr>
        <p:spPr>
          <a:xfrm>
            <a:off x="14886431" y="25456896"/>
            <a:ext cx="155448" cy="155448"/>
          </a:xfrm>
          <a:prstGeom prst="ellipse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2" name="TextBox 171"/>
          <p:cNvSpPr txBox="1"/>
          <p:nvPr/>
        </p:nvSpPr>
        <p:spPr>
          <a:xfrm>
            <a:off x="15160751" y="25310592"/>
            <a:ext cx="109728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900" b="1">
                <a:solidFill>
                  <a:srgbClr val="2B2B2B"/>
                </a:solidFill>
                <a:latin typeface="Malgun Gothic"/>
                <a:ea typeface="Malgun Gothic"/>
              </a:rPr>
              <a:t>기대효과 및 향후 연구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5160751" y="25831800"/>
            <a:ext cx="3813048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201168" indent="-201168">
              <a:lnSpc>
                <a:spcPct val="115000"/>
              </a:lnSpc>
              <a:spcAft>
                <a:spcPts val="300"/>
              </a:spcAft>
              <a:buFont typeface="Arial"/>
              <a:buChar char="•"/>
            </a:pPr>
            <a:r>
              <a:rPr sz="1100" b="0">
                <a:solidFill>
                  <a:srgbClr val="2B2B2B"/>
                </a:solidFill>
                <a:latin typeface="Malgun Gothic"/>
                <a:ea typeface="Malgun Gothic"/>
              </a:rPr>
              <a:t>금융 취약계층이 서명 전에 위험을 인지하고 확인 질문·협상 문구로 행동하도록 돕는 상담 보조 도구 (상담기관 연결)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Font typeface="Arial"/>
              <a:buChar char="•"/>
            </a:pPr>
            <a:r>
              <a:rPr sz="1100" b="0">
                <a:solidFill>
                  <a:srgbClr val="2B2B2B"/>
                </a:solidFill>
                <a:latin typeface="Malgun Gothic"/>
                <a:ea typeface="Malgun Gothic"/>
              </a:rPr>
              <a:t>정부·법원 판정 기반 골든셋과 다중 검증 체계로 "그럴듯한 답"이 아닌 "믿을 수 있는 답"을 지향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Font typeface="Arial"/>
              <a:buChar char="•"/>
            </a:pPr>
            <a:r>
              <a:rPr sz="1100" b="0">
                <a:solidFill>
                  <a:srgbClr val="2B2B2B"/>
                </a:solidFill>
                <a:latin typeface="Malgun Gothic"/>
                <a:ea typeface="Malgun Gothic"/>
              </a:rPr>
              <a:t>표준약관·판정례 RAG로 조항 밖 법리 보완, 외국인 페르소나 정량 검증, 법률 전문가·고령층 평가 풀 확대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18973800" y="25374600"/>
            <a:ext cx="11430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5F5F5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5F5F5F"/>
                </a:solidFill>
                <a:latin typeface="Malgun Gothic"/>
                <a:ea typeface="Malgun Gothic"/>
              </a:rPr>
              <a:t>QR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8699480" y="26490168"/>
            <a:ext cx="1691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5F5F5F"/>
                </a:solidFill>
                <a:latin typeface="Malgun Gothic"/>
                <a:ea typeface="Malgun Gothic"/>
              </a:rPr>
              <a:t>GitHub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18973800" y="26746200"/>
            <a:ext cx="11430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5F5F5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5F5F5F"/>
                </a:solidFill>
                <a:latin typeface="Malgun Gothic"/>
                <a:ea typeface="Malgun Gothic"/>
              </a:rPr>
              <a:t>QR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8699480" y="27861768"/>
            <a:ext cx="1691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5F5F5F"/>
                </a:solidFill>
                <a:latin typeface="Malgun Gothic"/>
                <a:ea typeface="Malgun Gothic"/>
              </a:rPr>
              <a:t>서비스 데모</a:t>
            </a:r>
          </a:p>
        </p:txBody>
      </p:sp>
    </p:spTree>
    <p:extLst>
      <p:ext uri="{BB962C8B-B14F-4D97-AF65-F5344CB8AC3E}">
        <p14:creationId xmlns:p14="http://schemas.microsoft.com/office/powerpoint/2010/main" val="502728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209</TotalTime>
  <Words>127</Words>
  <Application>Microsoft Office PowerPoint</Application>
  <PresentationFormat>사용자 지정</PresentationFormat>
  <Paragraphs>45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1" baseType="lpstr">
      <vt:lpstr>Arial Black</vt:lpstr>
      <vt:lpstr>맑은 고딕</vt:lpstr>
      <vt:lpstr>Franklin Gothic Demi</vt:lpstr>
      <vt:lpstr>Calibri Light</vt:lpstr>
      <vt:lpstr>Arial</vt:lpstr>
      <vt:lpstr>Calibri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JUNGYERANG</cp:lastModifiedBy>
  <cp:revision>36</cp:revision>
  <dcterms:created xsi:type="dcterms:W3CDTF">2019-07-31T07:36:11Z</dcterms:created>
  <dcterms:modified xsi:type="dcterms:W3CDTF">2026-08-21T06:14:29Z</dcterms:modified>
</cp:coreProperties>
</file>